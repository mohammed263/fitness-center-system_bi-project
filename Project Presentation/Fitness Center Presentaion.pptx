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18288000" cy="10287000"/>
  <p:notesSz cx="6858000" cy="9144000"/>
  <p:embeddedFontLst>
    <p:embeddedFont>
      <p:font typeface="Anton Italics" charset="1" panose="00000500000000000000"/>
      <p:regular r:id="rId54"/>
    </p:embeddedFont>
    <p:embeddedFont>
      <p:font typeface="Open Sans" charset="1" panose="00000000000000000000"/>
      <p:regular r:id="rId55"/>
    </p:embeddedFont>
    <p:embeddedFont>
      <p:font typeface="Anton" charset="1" panose="00000500000000000000"/>
      <p:regular r:id="rId56"/>
    </p:embeddedFont>
    <p:embeddedFont>
      <p:font typeface="Open Sans Bold" charset="1" panose="00000000000000000000"/>
      <p:regular r:id="rId57"/>
    </p:embeddedFont>
    <p:embeddedFont>
      <p:font typeface="League Spartan" charset="1" panose="00000800000000000000"/>
      <p:regular r:id="rId58"/>
    </p:embeddedFont>
    <p:embeddedFont>
      <p:font typeface="Poppins Bold" charset="1" panose="00000800000000000000"/>
      <p:regular r:id="rId59"/>
    </p:embeddedFont>
    <p:embeddedFont>
      <p:font typeface="Canva Sans Bold" charset="1" panose="020B0803030501040103"/>
      <p:regular r:id="rId60"/>
    </p:embeddedFont>
    <p:embeddedFont>
      <p:font typeface="Open Sans Italics" charset="1" panose="00000000000000000000"/>
      <p:regular r:id="rId61"/>
    </p:embeddedFont>
    <p:embeddedFont>
      <p:font typeface="Roboto" charset="1" panose="02000000000000000000"/>
      <p:regular r:id="rId62"/>
    </p:embeddedFont>
    <p:embeddedFont>
      <p:font typeface="Roboto Bold" charset="1" panose="02000000000000000000"/>
      <p:regular r:id="rId63"/>
    </p:embeddedFont>
    <p:embeddedFont>
      <p:font typeface="Open Sans Bold Italics" charset="1" panose="00000000000000000000"/>
      <p:regular r:id="rId6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Relationship Id="rId8" Target="../media/image12.jpe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34.png" Type="http://schemas.openxmlformats.org/officeDocument/2006/relationships/image"/><Relationship Id="rId4" Target="../media/image50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5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svg" Type="http://schemas.openxmlformats.org/officeDocument/2006/relationships/image"/><Relationship Id="rId11" Target="../media/image73.png" Type="http://schemas.openxmlformats.org/officeDocument/2006/relationships/image"/><Relationship Id="rId12" Target="../media/image74.svg" Type="http://schemas.openxmlformats.org/officeDocument/2006/relationships/image"/><Relationship Id="rId13" Target="../media/image75.png" Type="http://schemas.openxmlformats.org/officeDocument/2006/relationships/image"/><Relationship Id="rId14" Target="../media/image76.svg" Type="http://schemas.openxmlformats.org/officeDocument/2006/relationships/image"/><Relationship Id="rId15" Target="../media/image77.png" Type="http://schemas.openxmlformats.org/officeDocument/2006/relationships/image"/><Relationship Id="rId16" Target="../media/image78.svg" Type="http://schemas.openxmlformats.org/officeDocument/2006/relationships/image"/><Relationship Id="rId17" Target="../media/image79.png" Type="http://schemas.openxmlformats.org/officeDocument/2006/relationships/image"/><Relationship Id="rId18" Target="../media/image80.svg" Type="http://schemas.openxmlformats.org/officeDocument/2006/relationships/image"/><Relationship Id="rId19" Target="../media/image81.png" Type="http://schemas.openxmlformats.org/officeDocument/2006/relationships/image"/><Relationship Id="rId2" Target="../media/image64.jpeg" Type="http://schemas.openxmlformats.org/officeDocument/2006/relationships/image"/><Relationship Id="rId20" Target="../media/image82.svg" Type="http://schemas.openxmlformats.org/officeDocument/2006/relationships/image"/><Relationship Id="rId21" Target="../media/image83.png" Type="http://schemas.openxmlformats.org/officeDocument/2006/relationships/image"/><Relationship Id="rId22" Target="../media/image84.svg" Type="http://schemas.openxmlformats.org/officeDocument/2006/relationships/image"/><Relationship Id="rId23" Target="../media/image4.png" Type="http://schemas.openxmlformats.org/officeDocument/2006/relationships/image"/><Relationship Id="rId24" Target="../media/image5.sv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media/image67.svg" Type="http://schemas.openxmlformats.org/officeDocument/2006/relationships/image"/><Relationship Id="rId6" Target="../media/image68.svg" Type="http://schemas.openxmlformats.org/officeDocument/2006/relationships/image"/><Relationship Id="rId7" Target="../media/image69.svg" Type="http://schemas.openxmlformats.org/officeDocument/2006/relationships/image"/><Relationship Id="rId8" Target="../media/image70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5.png" Type="http://schemas.openxmlformats.org/officeDocument/2006/relationships/image"/><Relationship Id="rId5" Target="../media/image86.svg" Type="http://schemas.openxmlformats.org/officeDocument/2006/relationships/image"/><Relationship Id="rId6" Target="../media/image87.png" Type="http://schemas.openxmlformats.org/officeDocument/2006/relationships/image"/><Relationship Id="rId7" Target="../media/image8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0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1.jpeg" Type="http://schemas.openxmlformats.org/officeDocument/2006/relationships/image"/><Relationship Id="rId5" Target="../media/image92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5.jpeg" Type="http://schemas.openxmlformats.org/officeDocument/2006/relationships/image"/><Relationship Id="rId5" Target="../media/image96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7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8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9.jpeg" Type="http://schemas.openxmlformats.org/officeDocument/2006/relationships/image"/><Relationship Id="rId5" Target="../media/image100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1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4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5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6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7.png" Type="http://schemas.openxmlformats.org/officeDocument/2006/relationships/image"/><Relationship Id="rId3" Target="../media/image108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7.png" Type="http://schemas.openxmlformats.org/officeDocument/2006/relationships/image"/><Relationship Id="rId3" Target="../media/image109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7.png" Type="http://schemas.openxmlformats.org/officeDocument/2006/relationships/image"/><Relationship Id="rId3" Target="../media/image110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30954" y="7970921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23249" y="913963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5289" y="8095242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5"/>
                </a:lnTo>
                <a:lnTo>
                  <a:pt x="0" y="34912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31372" y="3706170"/>
            <a:ext cx="13825256" cy="2130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8"/>
              </a:lnSpc>
            </a:pPr>
            <a:r>
              <a:rPr lang="en-US" sz="12491" i="true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FITNESS CENTER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26170" y="5771840"/>
            <a:ext cx="1183565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BI System - ITI Graduation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5143500"/>
            <a:ext cx="18288000" cy="5143500"/>
          </a:xfrm>
          <a:prstGeom prst="rect">
            <a:avLst/>
          </a:prstGeom>
          <a:solidFill>
            <a:srgbClr val="CEE4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5656565" y="6511843"/>
            <a:ext cx="4721113" cy="4768801"/>
          </a:xfrm>
          <a:custGeom>
            <a:avLst/>
            <a:gdLst/>
            <a:ahLst/>
            <a:cxnLst/>
            <a:rect r="r" b="b" t="t" l="l"/>
            <a:pathLst>
              <a:path h="4768801" w="4721113">
                <a:moveTo>
                  <a:pt x="0" y="0"/>
                </a:moveTo>
                <a:lnTo>
                  <a:pt x="4721114" y="0"/>
                </a:lnTo>
                <a:lnTo>
                  <a:pt x="4721114" y="4768801"/>
                </a:lnTo>
                <a:lnTo>
                  <a:pt x="0" y="4768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581613" y="1129971"/>
            <a:ext cx="3109748" cy="3109748"/>
            <a:chOff x="0" y="0"/>
            <a:chExt cx="8909050" cy="890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4"/>
              <a:stretch>
                <a:fillRect l="223" t="-9454" r="223" b="-18945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971456" y="5515367"/>
            <a:ext cx="3109748" cy="3109748"/>
            <a:chOff x="0" y="0"/>
            <a:chExt cx="8909050" cy="890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5"/>
              <a:stretch>
                <a:fillRect l="-20546" t="0" r="-17590" b="-6518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2191771" y="5515367"/>
            <a:ext cx="3109748" cy="3109748"/>
            <a:chOff x="0" y="0"/>
            <a:chExt cx="8909050" cy="890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6"/>
              <a:stretch>
                <a:fillRect l="-17392" t="-7175" r="-15164" b="-25974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2971456" y="1113920"/>
            <a:ext cx="3109748" cy="3109748"/>
            <a:chOff x="0" y="0"/>
            <a:chExt cx="8909050" cy="890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2191771" y="1129971"/>
            <a:ext cx="3109748" cy="3109748"/>
            <a:chOff x="0" y="0"/>
            <a:chExt cx="8909050" cy="890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7"/>
              <a:stretch>
                <a:fillRect l="-54593" t="-17111" r="-46152" b="-84531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7581613" y="5515367"/>
            <a:ext cx="3109748" cy="3109748"/>
            <a:chOff x="0" y="0"/>
            <a:chExt cx="8909050" cy="890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8"/>
              <a:stretch>
                <a:fillRect l="-18186" t="-2759" r="-8020" b="-24011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336105" y="177588"/>
            <a:ext cx="6679113" cy="85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sz="5958" i="true" spc="-5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OUR TEAM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56328" y="4493895"/>
            <a:ext cx="316420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3000" spc="-3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Maryam Salah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64543" y="4465320"/>
            <a:ext cx="316420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3000" spc="-3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Ahmed Khaled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17001" y="4493895"/>
            <a:ext cx="316420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3000" spc="-3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Mohamed Ghazal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56328" y="8891815"/>
            <a:ext cx="316420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3000" spc="-3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Mohammad Anwar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64543" y="8891815"/>
            <a:ext cx="316420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3000" spc="-3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Youssef Radwan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17001" y="8891815"/>
            <a:ext cx="316420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3000" spc="-3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Sherif Khaled</a:t>
            </a:r>
          </a:p>
        </p:txBody>
      </p: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2971456" y="1129971"/>
            <a:ext cx="3109748" cy="3109748"/>
            <a:chOff x="0" y="0"/>
            <a:chExt cx="8909050" cy="890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60000">
              <a:off x="251759" y="270138"/>
              <a:ext cx="8405533" cy="8368775"/>
            </a:xfrm>
            <a:custGeom>
              <a:avLst/>
              <a:gdLst/>
              <a:ahLst/>
              <a:cxnLst/>
              <a:rect r="r" b="b" t="t" l="l"/>
              <a:pathLst>
                <a:path h="8368775" w="8405533">
                  <a:moveTo>
                    <a:pt x="4129745" y="1009"/>
                  </a:moveTo>
                  <a:cubicBezTo>
                    <a:pt x="2630594" y="20471"/>
                    <a:pt x="1256445" y="840577"/>
                    <a:pt x="527627" y="2150790"/>
                  </a:cubicBezTo>
                  <a:cubicBezTo>
                    <a:pt x="-201191" y="3461002"/>
                    <a:pt x="-173263" y="5061027"/>
                    <a:pt x="600837" y="6345006"/>
                  </a:cubicBezTo>
                  <a:cubicBezTo>
                    <a:pt x="1374937" y="7628985"/>
                    <a:pt x="2776870" y="8400635"/>
                    <a:pt x="4275787" y="8367765"/>
                  </a:cubicBezTo>
                  <a:cubicBezTo>
                    <a:pt x="5774938" y="8348303"/>
                    <a:pt x="7149087" y="7528197"/>
                    <a:pt x="7877906" y="6217984"/>
                  </a:cubicBezTo>
                  <a:cubicBezTo>
                    <a:pt x="8606723" y="4907772"/>
                    <a:pt x="8578794" y="3307747"/>
                    <a:pt x="7804695" y="2023768"/>
                  </a:cubicBezTo>
                  <a:cubicBezTo>
                    <a:pt x="7030595" y="739789"/>
                    <a:pt x="5628661" y="-31860"/>
                    <a:pt x="4129745" y="1009"/>
                  </a:cubicBezTo>
                  <a:close/>
                </a:path>
              </a:pathLst>
            </a:custGeom>
            <a:blipFill>
              <a:blip r:embed="rId9"/>
              <a:stretch>
                <a:fillRect l="-49188" t="-79507" r="-63412" b="-34698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248282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4329864"/>
            <a:ext cx="4646379" cy="4928436"/>
            <a:chOff x="0" y="0"/>
            <a:chExt cx="2771140" cy="29393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1140" cy="2939361"/>
            </a:xfrm>
            <a:custGeom>
              <a:avLst/>
              <a:gdLst/>
              <a:ahLst/>
              <a:cxnLst/>
              <a:rect r="r" b="b" t="t" l="l"/>
              <a:pathLst>
                <a:path h="2939361" w="2771140">
                  <a:moveTo>
                    <a:pt x="0" y="0"/>
                  </a:moveTo>
                  <a:lnTo>
                    <a:pt x="0" y="2036391"/>
                  </a:lnTo>
                  <a:lnTo>
                    <a:pt x="1384300" y="2939361"/>
                  </a:lnTo>
                  <a:lnTo>
                    <a:pt x="2771140" y="2036391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CEE45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612921" y="4329864"/>
            <a:ext cx="4646379" cy="4928436"/>
            <a:chOff x="0" y="0"/>
            <a:chExt cx="2771140" cy="29393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1140" cy="2939361"/>
            </a:xfrm>
            <a:custGeom>
              <a:avLst/>
              <a:gdLst/>
              <a:ahLst/>
              <a:cxnLst/>
              <a:rect r="r" b="b" t="t" l="l"/>
              <a:pathLst>
                <a:path h="2939361" w="2771140">
                  <a:moveTo>
                    <a:pt x="0" y="0"/>
                  </a:moveTo>
                  <a:lnTo>
                    <a:pt x="0" y="2036391"/>
                  </a:lnTo>
                  <a:lnTo>
                    <a:pt x="1384300" y="2939361"/>
                  </a:lnTo>
                  <a:lnTo>
                    <a:pt x="2771140" y="2036391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CEE45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20811" y="4329864"/>
            <a:ext cx="4646379" cy="4928436"/>
            <a:chOff x="0" y="0"/>
            <a:chExt cx="2771140" cy="29393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71140" cy="2939361"/>
            </a:xfrm>
            <a:custGeom>
              <a:avLst/>
              <a:gdLst/>
              <a:ahLst/>
              <a:cxnLst/>
              <a:rect r="r" b="b" t="t" l="l"/>
              <a:pathLst>
                <a:path h="2939361" w="2771140">
                  <a:moveTo>
                    <a:pt x="0" y="0"/>
                  </a:moveTo>
                  <a:lnTo>
                    <a:pt x="0" y="2036391"/>
                  </a:lnTo>
                  <a:lnTo>
                    <a:pt x="1384300" y="2939361"/>
                  </a:lnTo>
                  <a:lnTo>
                    <a:pt x="2771140" y="2036391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CEE452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423890" y="177588"/>
            <a:ext cx="6679113" cy="85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sz="5958" i="true" spc="-5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TABLE OF 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10189" y="6419870"/>
            <a:ext cx="4893583" cy="149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2968"/>
              </a:lnSpc>
              <a:buFont typeface="Arial"/>
              <a:buChar char="•"/>
            </a:pPr>
            <a:r>
              <a:rPr lang="en-US" sz="2800">
                <a:solidFill>
                  <a:srgbClr val="141414"/>
                </a:solidFill>
                <a:latin typeface="Open Sans"/>
                <a:ea typeface="Open Sans"/>
                <a:cs typeface="Open Sans"/>
                <a:sym typeface="Open Sans"/>
              </a:rPr>
              <a:t>SSRS stored Procedures</a:t>
            </a:r>
          </a:p>
          <a:p>
            <a:pPr algn="l" marL="604523" indent="-302261" lvl="1">
              <a:lnSpc>
                <a:spcPts val="2968"/>
              </a:lnSpc>
              <a:buFont typeface="Arial"/>
              <a:buChar char="•"/>
            </a:pPr>
            <a:r>
              <a:rPr lang="en-US" sz="2800">
                <a:solidFill>
                  <a:srgbClr val="141414"/>
                </a:solidFill>
                <a:latin typeface="Open Sans"/>
                <a:ea typeface="Open Sans"/>
                <a:cs typeface="Open Sans"/>
                <a:sym typeface="Open Sans"/>
              </a:rPr>
              <a:t>SSRS Reports</a:t>
            </a:r>
          </a:p>
          <a:p>
            <a:pPr algn="l" marL="604523" indent="-302261" lvl="1">
              <a:lnSpc>
                <a:spcPts val="2968"/>
              </a:lnSpc>
              <a:buFont typeface="Arial"/>
              <a:buChar char="•"/>
            </a:pPr>
            <a:r>
              <a:rPr lang="en-US" sz="2800">
                <a:solidFill>
                  <a:srgbClr val="141414"/>
                </a:solidFill>
                <a:latin typeface="Open Sans"/>
                <a:ea typeface="Open Sans"/>
                <a:cs typeface="Open Sans"/>
                <a:sym typeface="Open Sans"/>
              </a:rPr>
              <a:t>Power BI Dashboards</a:t>
            </a:r>
          </a:p>
          <a:p>
            <a:pPr algn="l" marL="604523" indent="-302261" lvl="1">
              <a:lnSpc>
                <a:spcPts val="2968"/>
              </a:lnSpc>
              <a:buFont typeface="Arial"/>
              <a:buChar char="•"/>
            </a:pPr>
            <a:r>
              <a:rPr lang="en-US" sz="2800">
                <a:solidFill>
                  <a:srgbClr val="141414"/>
                </a:solidFill>
                <a:latin typeface="Open Sans"/>
                <a:ea typeface="Open Sans"/>
                <a:cs typeface="Open Sans"/>
                <a:sym typeface="Open Sans"/>
              </a:rPr>
              <a:t>Website UI &amp; Function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601513" y="4772510"/>
            <a:ext cx="1500753" cy="1200603"/>
          </a:xfrm>
          <a:custGeom>
            <a:avLst/>
            <a:gdLst/>
            <a:ahLst/>
            <a:cxnLst/>
            <a:rect r="r" b="b" t="t" l="l"/>
            <a:pathLst>
              <a:path h="1200603" w="1500753">
                <a:moveTo>
                  <a:pt x="0" y="0"/>
                </a:moveTo>
                <a:lnTo>
                  <a:pt x="1500753" y="0"/>
                </a:lnTo>
                <a:lnTo>
                  <a:pt x="1500753" y="1200602"/>
                </a:lnTo>
                <a:lnTo>
                  <a:pt x="0" y="1200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38696" y="6444762"/>
            <a:ext cx="4200990" cy="149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2968"/>
              </a:lnSpc>
              <a:buFont typeface="Arial"/>
              <a:buChar char="•"/>
            </a:pPr>
            <a:r>
              <a:rPr lang="en-US" sz="2800">
                <a:solidFill>
                  <a:srgbClr val="141414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</a:p>
          <a:p>
            <a:pPr algn="l" marL="604523" indent="-302261" lvl="1">
              <a:lnSpc>
                <a:spcPts val="2968"/>
              </a:lnSpc>
              <a:buFont typeface="Arial"/>
              <a:buChar char="•"/>
            </a:pPr>
            <a:r>
              <a:rPr lang="en-US" sz="2800">
                <a:solidFill>
                  <a:srgbClr val="141414"/>
                </a:solidFill>
                <a:latin typeface="Open Sans"/>
                <a:ea typeface="Open Sans"/>
                <a:cs typeface="Open Sans"/>
                <a:sym typeface="Open Sans"/>
              </a:rPr>
              <a:t>Project Workflow</a:t>
            </a:r>
          </a:p>
          <a:p>
            <a:pPr algn="l" marL="604523" indent="-302261" lvl="1">
              <a:lnSpc>
                <a:spcPts val="2968"/>
              </a:lnSpc>
              <a:buFont typeface="Arial"/>
              <a:buChar char="•"/>
            </a:pPr>
            <a:r>
              <a:rPr lang="en-US" sz="2800">
                <a:solidFill>
                  <a:srgbClr val="141414"/>
                </a:solidFill>
                <a:latin typeface="Open Sans"/>
                <a:ea typeface="Open Sans"/>
                <a:cs typeface="Open Sans"/>
                <a:sym typeface="Open Sans"/>
              </a:rPr>
              <a:t>Tools &amp; Technologies</a:t>
            </a:r>
          </a:p>
          <a:p>
            <a:pPr algn="l" marL="604523" indent="-302261" lvl="1">
              <a:lnSpc>
                <a:spcPts val="2968"/>
              </a:lnSpc>
              <a:buFont typeface="Arial"/>
              <a:buChar char="•"/>
            </a:pPr>
            <a:r>
              <a:rPr lang="en-US" sz="2800">
                <a:solidFill>
                  <a:srgbClr val="141414"/>
                </a:solidFill>
                <a:latin typeface="Open Sans"/>
                <a:ea typeface="Open Sans"/>
                <a:cs typeface="Open Sans"/>
                <a:sym typeface="Open Sans"/>
              </a:rPr>
              <a:t>ERD &amp; Mapping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18736" y="4772510"/>
            <a:ext cx="1050527" cy="1200603"/>
          </a:xfrm>
          <a:custGeom>
            <a:avLst/>
            <a:gdLst/>
            <a:ahLst/>
            <a:cxnLst/>
            <a:rect r="r" b="b" t="t" l="l"/>
            <a:pathLst>
              <a:path h="1200603" w="1050527">
                <a:moveTo>
                  <a:pt x="0" y="0"/>
                </a:moveTo>
                <a:lnTo>
                  <a:pt x="1050528" y="0"/>
                </a:lnTo>
                <a:lnTo>
                  <a:pt x="1050528" y="1200602"/>
                </a:lnTo>
                <a:lnTo>
                  <a:pt x="0" y="1200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250052" y="4772510"/>
            <a:ext cx="1372117" cy="1200603"/>
          </a:xfrm>
          <a:custGeom>
            <a:avLst/>
            <a:gdLst/>
            <a:ahLst/>
            <a:cxnLst/>
            <a:rect r="r" b="b" t="t" l="l"/>
            <a:pathLst>
              <a:path h="1200603" w="1372117">
                <a:moveTo>
                  <a:pt x="0" y="0"/>
                </a:moveTo>
                <a:lnTo>
                  <a:pt x="1372117" y="0"/>
                </a:lnTo>
                <a:lnTo>
                  <a:pt x="1372117" y="1200602"/>
                </a:lnTo>
                <a:lnTo>
                  <a:pt x="0" y="12006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345807" y="-2031521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04067" y="6444762"/>
            <a:ext cx="4310929" cy="149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2968"/>
              </a:lnSpc>
              <a:buFont typeface="Arial"/>
              <a:buChar char="•"/>
            </a:pPr>
            <a:r>
              <a:rPr lang="en-US" sz="2800">
                <a:solidFill>
                  <a:srgbClr val="141414"/>
                </a:solidFill>
                <a:latin typeface="Open Sans"/>
                <a:ea typeface="Open Sans"/>
                <a:cs typeface="Open Sans"/>
                <a:sym typeface="Open Sans"/>
              </a:rPr>
              <a:t>Database Tables</a:t>
            </a:r>
          </a:p>
          <a:p>
            <a:pPr algn="l" marL="604523" indent="-302261" lvl="1">
              <a:lnSpc>
                <a:spcPts val="2968"/>
              </a:lnSpc>
              <a:buFont typeface="Arial"/>
              <a:buChar char="•"/>
            </a:pPr>
            <a:r>
              <a:rPr lang="en-US" sz="2800">
                <a:solidFill>
                  <a:srgbClr val="141414"/>
                </a:solidFill>
                <a:latin typeface="Open Sans"/>
                <a:ea typeface="Open Sans"/>
                <a:cs typeface="Open Sans"/>
                <a:sym typeface="Open Sans"/>
              </a:rPr>
              <a:t>Database Creation</a:t>
            </a:r>
          </a:p>
          <a:p>
            <a:pPr algn="l" marL="604523" indent="-302261" lvl="1">
              <a:lnSpc>
                <a:spcPts val="2968"/>
              </a:lnSpc>
              <a:buFont typeface="Arial"/>
              <a:buChar char="•"/>
            </a:pPr>
            <a:r>
              <a:rPr lang="en-US" sz="2800">
                <a:solidFill>
                  <a:srgbClr val="141414"/>
                </a:solidFill>
                <a:latin typeface="Open Sans"/>
                <a:ea typeface="Open Sans"/>
                <a:cs typeface="Open Sans"/>
                <a:sym typeface="Open Sans"/>
              </a:rPr>
              <a:t>Database T-SQL</a:t>
            </a:r>
          </a:p>
          <a:p>
            <a:pPr algn="l" marL="604523" indent="-302261" lvl="1">
              <a:lnSpc>
                <a:spcPts val="2968"/>
              </a:lnSpc>
              <a:buFont typeface="Arial"/>
              <a:buChar char="•"/>
            </a:pPr>
            <a:r>
              <a:rPr lang="en-US" sz="2800">
                <a:solidFill>
                  <a:srgbClr val="141414"/>
                </a:solidFill>
                <a:latin typeface="Open Sans"/>
                <a:ea typeface="Open Sans"/>
                <a:cs typeface="Open Sans"/>
                <a:sym typeface="Open Sans"/>
              </a:rPr>
              <a:t>RFM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-275248" y="-214048"/>
            <a:ext cx="18898130" cy="10625601"/>
          </a:xfrm>
          <a:prstGeom prst="rect">
            <a:avLst/>
          </a:prstGeom>
          <a:solidFill>
            <a:srgbClr val="191919"/>
          </a:solidFill>
        </p:spPr>
      </p:sp>
      <p:sp>
        <p:nvSpPr>
          <p:cNvPr name="Freeform 4" id="4"/>
          <p:cNvSpPr/>
          <p:nvPr/>
        </p:nvSpPr>
        <p:spPr>
          <a:xfrm flipH="true" flipV="false" rot="0">
            <a:off x="10215460" y="2712765"/>
            <a:ext cx="8407422" cy="6404927"/>
          </a:xfrm>
          <a:custGeom>
            <a:avLst/>
            <a:gdLst/>
            <a:ahLst/>
            <a:cxnLst/>
            <a:rect r="r" b="b" t="t" l="l"/>
            <a:pathLst>
              <a:path h="6404927" w="8407422">
                <a:moveTo>
                  <a:pt x="8407422" y="0"/>
                </a:moveTo>
                <a:lnTo>
                  <a:pt x="0" y="0"/>
                </a:lnTo>
                <a:lnTo>
                  <a:pt x="0" y="6404927"/>
                </a:lnTo>
                <a:lnTo>
                  <a:pt x="8407422" y="6404927"/>
                </a:lnTo>
                <a:lnTo>
                  <a:pt x="840742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03418" y="1095375"/>
            <a:ext cx="9065795" cy="115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8"/>
              </a:lnSpc>
            </a:pPr>
            <a:r>
              <a:rPr lang="en-US" sz="8087" i="true" spc="-80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097" y="3253389"/>
            <a:ext cx="11724148" cy="363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59"/>
              </a:lnSpc>
            </a:pPr>
            <a:r>
              <a:rPr lang="en-US" sz="3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Problem:</a:t>
            </a:r>
          </a:p>
          <a:p>
            <a:pPr algn="just">
              <a:lnSpc>
                <a:spcPts val="385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Fitness centers deal with large amounts of scattered data related to members, attendance, branches, and performance.</a:t>
            </a:r>
          </a:p>
          <a:p>
            <a:pPr algn="just">
              <a:lnSpc>
                <a:spcPts val="3850"/>
              </a:lnSpc>
            </a:pPr>
          </a:p>
          <a:p>
            <a:pPr algn="just">
              <a:lnSpc>
                <a:spcPts val="385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lack of organization makes it difficult to track trends, measure results, and make informed decisions.</a:t>
            </a:r>
          </a:p>
          <a:p>
            <a:pPr algn="just">
              <a:lnSpc>
                <a:spcPts val="3388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699462" y="-1423460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0097" y="7051275"/>
            <a:ext cx="10742498" cy="223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59"/>
              </a:lnSpc>
            </a:pPr>
            <a:r>
              <a:rPr lang="en-US" sz="3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Solution:</a:t>
            </a:r>
          </a:p>
          <a:p>
            <a:pPr algn="just">
              <a:lnSpc>
                <a:spcPts val="385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project provides an end to end BI solution that organizes all operational data in one structured place.</a:t>
            </a:r>
          </a:p>
          <a:p>
            <a:pPr algn="just">
              <a:lnSpc>
                <a:spcPts val="38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7678" y="-562872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5"/>
                </a:lnTo>
                <a:lnTo>
                  <a:pt x="0" y="3491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48453" y="2644843"/>
            <a:ext cx="2179210" cy="217921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System Analysis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39653" y="2644843"/>
            <a:ext cx="2179210" cy="217921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ERD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49899" y="2644843"/>
            <a:ext cx="2179210" cy="217921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Mapping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60337" y="2644843"/>
            <a:ext cx="2179210" cy="217921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Database Design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60337" y="5231736"/>
            <a:ext cx="2179210" cy="217921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 Generation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128431" y="7711714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449899" y="5231736"/>
            <a:ext cx="2179210" cy="217921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Transact SQL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748453" y="5231736"/>
            <a:ext cx="2179210" cy="217921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 Modelling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748453" y="7888422"/>
            <a:ext cx="2179210" cy="217921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Dashboards Creation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39653" y="7888422"/>
            <a:ext cx="2179210" cy="217921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Dashboards Design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526099" y="7888422"/>
            <a:ext cx="2179210" cy="217921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SSRS Reports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39653" y="5351529"/>
            <a:ext cx="2179210" cy="217921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Database Users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6006797" y="3522255"/>
            <a:ext cx="453723" cy="657898"/>
          </a:xfrm>
          <a:custGeom>
            <a:avLst/>
            <a:gdLst/>
            <a:ahLst/>
            <a:cxnLst/>
            <a:rect r="r" b="b" t="t" l="l"/>
            <a:pathLst>
              <a:path h="657898" w="453723">
                <a:moveTo>
                  <a:pt x="0" y="0"/>
                </a:moveTo>
                <a:lnTo>
                  <a:pt x="453723" y="0"/>
                </a:lnTo>
                <a:lnTo>
                  <a:pt x="453723" y="657898"/>
                </a:lnTo>
                <a:lnTo>
                  <a:pt x="0" y="657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4563997">
            <a:off x="13541185" y="4485254"/>
            <a:ext cx="3174491" cy="1199693"/>
          </a:xfrm>
          <a:custGeom>
            <a:avLst/>
            <a:gdLst/>
            <a:ahLst/>
            <a:cxnLst/>
            <a:rect r="r" b="b" t="t" l="l"/>
            <a:pathLst>
              <a:path h="1199693" w="3174491">
                <a:moveTo>
                  <a:pt x="0" y="0"/>
                </a:moveTo>
                <a:lnTo>
                  <a:pt x="3174492" y="0"/>
                </a:lnTo>
                <a:lnTo>
                  <a:pt x="3174492" y="1199693"/>
                </a:lnTo>
                <a:lnTo>
                  <a:pt x="0" y="1199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857520" y="3522255"/>
            <a:ext cx="453723" cy="657898"/>
          </a:xfrm>
          <a:custGeom>
            <a:avLst/>
            <a:gdLst/>
            <a:ahLst/>
            <a:cxnLst/>
            <a:rect r="r" b="b" t="t" l="l"/>
            <a:pathLst>
              <a:path h="657898" w="453723">
                <a:moveTo>
                  <a:pt x="0" y="0"/>
                </a:moveTo>
                <a:lnTo>
                  <a:pt x="453723" y="0"/>
                </a:lnTo>
                <a:lnTo>
                  <a:pt x="453723" y="657898"/>
                </a:lnTo>
                <a:lnTo>
                  <a:pt x="0" y="657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1705309" y="3522255"/>
            <a:ext cx="453723" cy="657898"/>
          </a:xfrm>
          <a:custGeom>
            <a:avLst/>
            <a:gdLst/>
            <a:ahLst/>
            <a:cxnLst/>
            <a:rect r="r" b="b" t="t" l="l"/>
            <a:pathLst>
              <a:path h="657898" w="453723">
                <a:moveTo>
                  <a:pt x="0" y="0"/>
                </a:moveTo>
                <a:lnTo>
                  <a:pt x="453723" y="0"/>
                </a:lnTo>
                <a:lnTo>
                  <a:pt x="453723" y="657898"/>
                </a:lnTo>
                <a:lnTo>
                  <a:pt x="0" y="657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-10800000">
            <a:off x="6006797" y="5992392"/>
            <a:ext cx="453723" cy="657898"/>
          </a:xfrm>
          <a:custGeom>
            <a:avLst/>
            <a:gdLst/>
            <a:ahLst/>
            <a:cxnLst/>
            <a:rect r="r" b="b" t="t" l="l"/>
            <a:pathLst>
              <a:path h="657898" w="453723">
                <a:moveTo>
                  <a:pt x="0" y="0"/>
                </a:moveTo>
                <a:lnTo>
                  <a:pt x="453723" y="0"/>
                </a:lnTo>
                <a:lnTo>
                  <a:pt x="453723" y="657899"/>
                </a:lnTo>
                <a:lnTo>
                  <a:pt x="0" y="6578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-10800000">
            <a:off x="8857520" y="6112185"/>
            <a:ext cx="453723" cy="657898"/>
          </a:xfrm>
          <a:custGeom>
            <a:avLst/>
            <a:gdLst/>
            <a:ahLst/>
            <a:cxnLst/>
            <a:rect r="r" b="b" t="t" l="l"/>
            <a:pathLst>
              <a:path h="657898" w="453723">
                <a:moveTo>
                  <a:pt x="0" y="0"/>
                </a:moveTo>
                <a:lnTo>
                  <a:pt x="453723" y="0"/>
                </a:lnTo>
                <a:lnTo>
                  <a:pt x="453723" y="657898"/>
                </a:lnTo>
                <a:lnTo>
                  <a:pt x="0" y="657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3" id="43"/>
          <p:cNvSpPr/>
          <p:nvPr/>
        </p:nvSpPr>
        <p:spPr>
          <a:xfrm flipH="false" flipV="false" rot="-10800000">
            <a:off x="11771984" y="6047053"/>
            <a:ext cx="453723" cy="657898"/>
          </a:xfrm>
          <a:custGeom>
            <a:avLst/>
            <a:gdLst/>
            <a:ahLst/>
            <a:cxnLst/>
            <a:rect r="r" b="b" t="t" l="l"/>
            <a:pathLst>
              <a:path h="657898" w="453723">
                <a:moveTo>
                  <a:pt x="0" y="0"/>
                </a:moveTo>
                <a:lnTo>
                  <a:pt x="453723" y="0"/>
                </a:lnTo>
                <a:lnTo>
                  <a:pt x="453723" y="657898"/>
                </a:lnTo>
                <a:lnTo>
                  <a:pt x="0" y="657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6006797" y="8799434"/>
            <a:ext cx="453723" cy="657898"/>
          </a:xfrm>
          <a:custGeom>
            <a:avLst/>
            <a:gdLst/>
            <a:ahLst/>
            <a:cxnLst/>
            <a:rect r="r" b="b" t="t" l="l"/>
            <a:pathLst>
              <a:path h="657898" w="453723">
                <a:moveTo>
                  <a:pt x="0" y="0"/>
                </a:moveTo>
                <a:lnTo>
                  <a:pt x="453723" y="0"/>
                </a:lnTo>
                <a:lnTo>
                  <a:pt x="453723" y="657898"/>
                </a:lnTo>
                <a:lnTo>
                  <a:pt x="0" y="657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8996176" y="8799434"/>
            <a:ext cx="453723" cy="657898"/>
          </a:xfrm>
          <a:custGeom>
            <a:avLst/>
            <a:gdLst/>
            <a:ahLst/>
            <a:cxnLst/>
            <a:rect r="r" b="b" t="t" l="l"/>
            <a:pathLst>
              <a:path h="657898" w="453723">
                <a:moveTo>
                  <a:pt x="0" y="0"/>
                </a:moveTo>
                <a:lnTo>
                  <a:pt x="453723" y="0"/>
                </a:lnTo>
                <a:lnTo>
                  <a:pt x="453723" y="657898"/>
                </a:lnTo>
                <a:lnTo>
                  <a:pt x="0" y="657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46" id="46"/>
          <p:cNvGrpSpPr/>
          <p:nvPr/>
        </p:nvGrpSpPr>
        <p:grpSpPr>
          <a:xfrm rot="0">
            <a:off x="12360337" y="7820522"/>
            <a:ext cx="2179210" cy="2179210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Website Creation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1771984" y="8799434"/>
            <a:ext cx="453723" cy="657898"/>
          </a:xfrm>
          <a:custGeom>
            <a:avLst/>
            <a:gdLst/>
            <a:ahLst/>
            <a:cxnLst/>
            <a:rect r="r" b="b" t="t" l="l"/>
            <a:pathLst>
              <a:path h="657898" w="453723">
                <a:moveTo>
                  <a:pt x="0" y="0"/>
                </a:moveTo>
                <a:lnTo>
                  <a:pt x="453723" y="0"/>
                </a:lnTo>
                <a:lnTo>
                  <a:pt x="453723" y="657898"/>
                </a:lnTo>
                <a:lnTo>
                  <a:pt x="0" y="6578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0" id="50"/>
          <p:cNvSpPr txBox="true"/>
          <p:nvPr/>
        </p:nvSpPr>
        <p:spPr>
          <a:xfrm rot="0">
            <a:off x="5047434" y="499719"/>
            <a:ext cx="9065795" cy="115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8"/>
              </a:lnSpc>
            </a:pPr>
            <a:r>
              <a:rPr lang="en-US" sz="8087" i="true" spc="-80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PROJECT WORKFLOW</a:t>
            </a:r>
          </a:p>
        </p:txBody>
      </p:sp>
      <p:sp>
        <p:nvSpPr>
          <p:cNvPr name="Freeform 51" id="51"/>
          <p:cNvSpPr/>
          <p:nvPr/>
        </p:nvSpPr>
        <p:spPr>
          <a:xfrm flipH="false" flipV="true" rot="6127264">
            <a:off x="1671400" y="7288575"/>
            <a:ext cx="3174491" cy="1199693"/>
          </a:xfrm>
          <a:custGeom>
            <a:avLst/>
            <a:gdLst/>
            <a:ahLst/>
            <a:cxnLst/>
            <a:rect r="r" b="b" t="t" l="l"/>
            <a:pathLst>
              <a:path h="1199693" w="3174491">
                <a:moveTo>
                  <a:pt x="0" y="1199693"/>
                </a:moveTo>
                <a:lnTo>
                  <a:pt x="3174491" y="1199693"/>
                </a:lnTo>
                <a:lnTo>
                  <a:pt x="3174491" y="0"/>
                </a:lnTo>
                <a:lnTo>
                  <a:pt x="0" y="0"/>
                </a:lnTo>
                <a:lnTo>
                  <a:pt x="0" y="119969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8409" y="1040129"/>
            <a:ext cx="7416389" cy="85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sz="5958" i="true" spc="-5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TOOLS &amp; TECHNOLOGIES</a:t>
            </a:r>
          </a:p>
        </p:txBody>
      </p:sp>
      <p:sp>
        <p:nvSpPr>
          <p:cNvPr name="AutoShape 3" id="3"/>
          <p:cNvSpPr/>
          <p:nvPr/>
        </p:nvSpPr>
        <p:spPr>
          <a:xfrm>
            <a:off x="918409" y="1891241"/>
            <a:ext cx="6075348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105678" y="-2677617"/>
            <a:ext cx="3221733" cy="3254275"/>
          </a:xfrm>
          <a:custGeom>
            <a:avLst/>
            <a:gdLst/>
            <a:ahLst/>
            <a:cxnLst/>
            <a:rect r="r" b="b" t="t" l="l"/>
            <a:pathLst>
              <a:path h="3254275" w="3221733">
                <a:moveTo>
                  <a:pt x="0" y="0"/>
                </a:moveTo>
                <a:lnTo>
                  <a:pt x="3221733" y="0"/>
                </a:lnTo>
                <a:lnTo>
                  <a:pt x="3221733" y="3254276"/>
                </a:lnTo>
                <a:lnTo>
                  <a:pt x="0" y="325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27411" y="-2914577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49355" y="-2914577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83734" y="-2914577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3032" y="-2914577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63292" y="-2914577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21919" y="9764672"/>
            <a:ext cx="3221733" cy="3254275"/>
          </a:xfrm>
          <a:custGeom>
            <a:avLst/>
            <a:gdLst/>
            <a:ahLst/>
            <a:cxnLst/>
            <a:rect r="r" b="b" t="t" l="l"/>
            <a:pathLst>
              <a:path h="3254275" w="3221733">
                <a:moveTo>
                  <a:pt x="0" y="0"/>
                </a:moveTo>
                <a:lnTo>
                  <a:pt x="3221732" y="0"/>
                </a:lnTo>
                <a:lnTo>
                  <a:pt x="3221732" y="3254275"/>
                </a:lnTo>
                <a:lnTo>
                  <a:pt x="0" y="325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43651" y="9764672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65595" y="9764672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399975" y="9764672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09272" y="9764672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647051" y="9764672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51869" y="2822362"/>
            <a:ext cx="3353809" cy="2676442"/>
            <a:chOff x="0" y="0"/>
            <a:chExt cx="4471745" cy="35685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1385" y="0"/>
              <a:ext cx="3568589" cy="3568589"/>
            </a:xfrm>
            <a:custGeom>
              <a:avLst/>
              <a:gdLst/>
              <a:ahLst/>
              <a:cxnLst/>
              <a:rect r="r" b="b" t="t" l="l"/>
              <a:pathLst>
                <a:path h="3568589" w="3568589">
                  <a:moveTo>
                    <a:pt x="0" y="0"/>
                  </a:moveTo>
                  <a:lnTo>
                    <a:pt x="3568589" y="0"/>
                  </a:lnTo>
                  <a:lnTo>
                    <a:pt x="3568589" y="3568589"/>
                  </a:lnTo>
                  <a:lnTo>
                    <a:pt x="0" y="3568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633242"/>
              <a:ext cx="4471745" cy="8569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57"/>
                </a:lnSpc>
                <a:spcBef>
                  <a:spcPct val="0"/>
                </a:spcBef>
              </a:pPr>
              <a:r>
                <a:rPr lang="en-US" b="true" sz="375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Power BI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657504" y="6600241"/>
            <a:ext cx="2178075" cy="2178075"/>
          </a:xfrm>
          <a:custGeom>
            <a:avLst/>
            <a:gdLst/>
            <a:ahLst/>
            <a:cxnLst/>
            <a:rect r="r" b="b" t="t" l="l"/>
            <a:pathLst>
              <a:path h="2178075" w="2178075">
                <a:moveTo>
                  <a:pt x="0" y="0"/>
                </a:moveTo>
                <a:lnTo>
                  <a:pt x="2178075" y="0"/>
                </a:lnTo>
                <a:lnTo>
                  <a:pt x="2178075" y="2178075"/>
                </a:lnTo>
                <a:lnTo>
                  <a:pt x="0" y="217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244578" y="6415637"/>
            <a:ext cx="2623483" cy="2623483"/>
          </a:xfrm>
          <a:custGeom>
            <a:avLst/>
            <a:gdLst/>
            <a:ahLst/>
            <a:cxnLst/>
            <a:rect r="r" b="b" t="t" l="l"/>
            <a:pathLst>
              <a:path h="2623483" w="2623483">
                <a:moveTo>
                  <a:pt x="0" y="0"/>
                </a:moveTo>
                <a:lnTo>
                  <a:pt x="2623483" y="0"/>
                </a:lnTo>
                <a:lnTo>
                  <a:pt x="2623483" y="2623483"/>
                </a:lnTo>
                <a:lnTo>
                  <a:pt x="0" y="26234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06312" y="2395749"/>
            <a:ext cx="3347691" cy="3347691"/>
          </a:xfrm>
          <a:custGeom>
            <a:avLst/>
            <a:gdLst/>
            <a:ahLst/>
            <a:cxnLst/>
            <a:rect r="r" b="b" t="t" l="l"/>
            <a:pathLst>
              <a:path h="3347691" w="3347691">
                <a:moveTo>
                  <a:pt x="0" y="0"/>
                </a:moveTo>
                <a:lnTo>
                  <a:pt x="3347691" y="0"/>
                </a:lnTo>
                <a:lnTo>
                  <a:pt x="3347691" y="3347691"/>
                </a:lnTo>
                <a:lnTo>
                  <a:pt x="0" y="33476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813741" y="2891618"/>
            <a:ext cx="4423759" cy="2629932"/>
          </a:xfrm>
          <a:custGeom>
            <a:avLst/>
            <a:gdLst/>
            <a:ahLst/>
            <a:cxnLst/>
            <a:rect r="r" b="b" t="t" l="l"/>
            <a:pathLst>
              <a:path h="2629932" w="4423759">
                <a:moveTo>
                  <a:pt x="0" y="0"/>
                </a:moveTo>
                <a:lnTo>
                  <a:pt x="4423759" y="0"/>
                </a:lnTo>
                <a:lnTo>
                  <a:pt x="4423759" y="2629932"/>
                </a:lnTo>
                <a:lnTo>
                  <a:pt x="0" y="26299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469560" y="2967587"/>
            <a:ext cx="2553963" cy="2553963"/>
          </a:xfrm>
          <a:custGeom>
            <a:avLst/>
            <a:gdLst/>
            <a:ahLst/>
            <a:cxnLst/>
            <a:rect r="r" b="b" t="t" l="l"/>
            <a:pathLst>
              <a:path h="2553963" w="2553963">
                <a:moveTo>
                  <a:pt x="0" y="0"/>
                </a:moveTo>
                <a:lnTo>
                  <a:pt x="2553963" y="0"/>
                </a:lnTo>
                <a:lnTo>
                  <a:pt x="2553963" y="2553963"/>
                </a:lnTo>
                <a:lnTo>
                  <a:pt x="0" y="25539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044608" y="6695544"/>
            <a:ext cx="1962025" cy="2120652"/>
          </a:xfrm>
          <a:custGeom>
            <a:avLst/>
            <a:gdLst/>
            <a:ahLst/>
            <a:cxnLst/>
            <a:rect r="r" b="b" t="t" l="l"/>
            <a:pathLst>
              <a:path h="2120652" w="1962025">
                <a:moveTo>
                  <a:pt x="0" y="0"/>
                </a:moveTo>
                <a:lnTo>
                  <a:pt x="1962025" y="0"/>
                </a:lnTo>
                <a:lnTo>
                  <a:pt x="1962025" y="2120651"/>
                </a:lnTo>
                <a:lnTo>
                  <a:pt x="0" y="21206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6642" t="0" r="-45508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28700" y="5914890"/>
            <a:ext cx="3681959" cy="3681959"/>
          </a:xfrm>
          <a:custGeom>
            <a:avLst/>
            <a:gdLst/>
            <a:ahLst/>
            <a:cxnLst/>
            <a:rect r="r" b="b" t="t" l="l"/>
            <a:pathLst>
              <a:path h="3681959" w="3681959">
                <a:moveTo>
                  <a:pt x="0" y="0"/>
                </a:moveTo>
                <a:lnTo>
                  <a:pt x="3681959" y="0"/>
                </a:lnTo>
                <a:lnTo>
                  <a:pt x="3681959" y="3681959"/>
                </a:lnTo>
                <a:lnTo>
                  <a:pt x="0" y="36819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004394" y="6562652"/>
            <a:ext cx="2254906" cy="2254906"/>
          </a:xfrm>
          <a:custGeom>
            <a:avLst/>
            <a:gdLst/>
            <a:ahLst/>
            <a:cxnLst/>
            <a:rect r="r" b="b" t="t" l="l"/>
            <a:pathLst>
              <a:path h="2254906" w="2254906">
                <a:moveTo>
                  <a:pt x="0" y="0"/>
                </a:moveTo>
                <a:lnTo>
                  <a:pt x="2254906" y="0"/>
                </a:lnTo>
                <a:lnTo>
                  <a:pt x="2254906" y="2254905"/>
                </a:lnTo>
                <a:lnTo>
                  <a:pt x="0" y="22549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237500" y="3535226"/>
            <a:ext cx="2168993" cy="2168993"/>
          </a:xfrm>
          <a:custGeom>
            <a:avLst/>
            <a:gdLst/>
            <a:ahLst/>
            <a:cxnLst/>
            <a:rect r="r" b="b" t="t" l="l"/>
            <a:pathLst>
              <a:path h="2168993" w="2168993">
                <a:moveTo>
                  <a:pt x="0" y="0"/>
                </a:moveTo>
                <a:lnTo>
                  <a:pt x="2168993" y="0"/>
                </a:lnTo>
                <a:lnTo>
                  <a:pt x="2168993" y="2168993"/>
                </a:lnTo>
                <a:lnTo>
                  <a:pt x="0" y="21689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Collaboration &amp; Source Control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65056" y="3055684"/>
            <a:ext cx="3582965" cy="1407241"/>
            <a:chOff x="0" y="0"/>
            <a:chExt cx="2771140" cy="10883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1140" cy="1088390"/>
            </a:xfrm>
            <a:custGeom>
              <a:avLst/>
              <a:gdLst/>
              <a:ahLst/>
              <a:cxnLst/>
              <a:rect r="r" b="b" t="t" l="l"/>
              <a:pathLst>
                <a:path h="1088390" w="2771140">
                  <a:moveTo>
                    <a:pt x="0" y="0"/>
                  </a:moveTo>
                  <a:lnTo>
                    <a:pt x="0" y="185420"/>
                  </a:lnTo>
                  <a:lnTo>
                    <a:pt x="1384300" y="1088390"/>
                  </a:lnTo>
                  <a:lnTo>
                    <a:pt x="2771140" y="18542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CEE452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8959" y="5143500"/>
            <a:ext cx="9092191" cy="3670643"/>
          </a:xfrm>
          <a:custGeom>
            <a:avLst/>
            <a:gdLst/>
            <a:ahLst/>
            <a:cxnLst/>
            <a:rect r="r" b="b" t="t" l="l"/>
            <a:pathLst>
              <a:path h="3670643" w="9092191">
                <a:moveTo>
                  <a:pt x="0" y="0"/>
                </a:moveTo>
                <a:lnTo>
                  <a:pt x="9092191" y="0"/>
                </a:lnTo>
                <a:lnTo>
                  <a:pt x="9092191" y="3670643"/>
                </a:lnTo>
                <a:lnTo>
                  <a:pt x="0" y="3670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16" t="0" r="-1872" b="-1809"/>
            </a:stretch>
          </a:blipFill>
          <a:ln w="85725" cap="sq">
            <a:solidFill>
              <a:srgbClr val="CEE452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58518" y="7018196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70428" y="5143500"/>
            <a:ext cx="8794640" cy="3670643"/>
          </a:xfrm>
          <a:custGeom>
            <a:avLst/>
            <a:gdLst/>
            <a:ahLst/>
            <a:cxnLst/>
            <a:rect r="r" b="b" t="t" l="l"/>
            <a:pathLst>
              <a:path h="3670643" w="8794640">
                <a:moveTo>
                  <a:pt x="0" y="0"/>
                </a:moveTo>
                <a:lnTo>
                  <a:pt x="8794640" y="0"/>
                </a:lnTo>
                <a:lnTo>
                  <a:pt x="8794640" y="3670643"/>
                </a:lnTo>
                <a:lnTo>
                  <a:pt x="0" y="36706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8416"/>
            </a:stretch>
          </a:blipFill>
          <a:ln w="85725" cap="sq">
            <a:solidFill>
              <a:srgbClr val="CEE452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-197678" y="-686697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5"/>
                </a:lnTo>
                <a:lnTo>
                  <a:pt x="0" y="3491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001480" y="3055684"/>
            <a:ext cx="3582965" cy="1407241"/>
            <a:chOff x="0" y="0"/>
            <a:chExt cx="2771140" cy="10883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71140" cy="1088390"/>
            </a:xfrm>
            <a:custGeom>
              <a:avLst/>
              <a:gdLst/>
              <a:ahLst/>
              <a:cxnLst/>
              <a:rect r="r" b="b" t="t" l="l"/>
              <a:pathLst>
                <a:path h="1088390" w="2771140">
                  <a:moveTo>
                    <a:pt x="0" y="0"/>
                  </a:moveTo>
                  <a:lnTo>
                    <a:pt x="0" y="185420"/>
                  </a:lnTo>
                  <a:lnTo>
                    <a:pt x="1384300" y="1088390"/>
                  </a:lnTo>
                  <a:lnTo>
                    <a:pt x="2771140" y="18542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CEE45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30850" y="3148895"/>
            <a:ext cx="2663142" cy="72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Trello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69773" y="3129384"/>
            <a:ext cx="4646379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01037" y="526744"/>
            <a:ext cx="11859181" cy="9233512"/>
          </a:xfrm>
          <a:custGeom>
            <a:avLst/>
            <a:gdLst/>
            <a:ahLst/>
            <a:cxnLst/>
            <a:rect r="r" b="b" t="t" l="l"/>
            <a:pathLst>
              <a:path h="9233512" w="11859181">
                <a:moveTo>
                  <a:pt x="0" y="0"/>
                </a:moveTo>
                <a:lnTo>
                  <a:pt x="11859182" y="0"/>
                </a:lnTo>
                <a:lnTo>
                  <a:pt x="11859182" y="9233512"/>
                </a:lnTo>
                <a:lnTo>
                  <a:pt x="0" y="923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2" t="0" r="0" b="0"/>
            </a:stretch>
          </a:blipFill>
          <a:ln w="142875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18409" y="612669"/>
            <a:ext cx="2047139" cy="85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sz="5958" i="true" spc="-5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ERD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3668" y="4017391"/>
            <a:ext cx="3533225" cy="112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Entities: 10</a:t>
            </a:r>
          </a:p>
          <a:p>
            <a:pPr algn="l">
              <a:lnSpc>
                <a:spcPts val="2968"/>
              </a:lnSpc>
            </a:pPr>
          </a:p>
          <a:p>
            <a:pPr algn="l">
              <a:lnSpc>
                <a:spcPts val="2968"/>
              </a:lnSpc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RelationShips: 15</a:t>
            </a:r>
          </a:p>
        </p:txBody>
      </p:sp>
      <p:sp>
        <p:nvSpPr>
          <p:cNvPr name="AutoShape 5" id="5"/>
          <p:cNvSpPr/>
          <p:nvPr/>
        </p:nvSpPr>
        <p:spPr>
          <a:xfrm>
            <a:off x="709254" y="1478069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62025" y="1478069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163275" y="135638"/>
            <a:ext cx="8852473" cy="10002794"/>
          </a:xfrm>
          <a:custGeom>
            <a:avLst/>
            <a:gdLst/>
            <a:ahLst/>
            <a:cxnLst/>
            <a:rect r="r" b="b" t="t" l="l"/>
            <a:pathLst>
              <a:path h="10002794" w="8852473">
                <a:moveTo>
                  <a:pt x="0" y="0"/>
                </a:moveTo>
                <a:lnTo>
                  <a:pt x="8852473" y="0"/>
                </a:lnTo>
                <a:lnTo>
                  <a:pt x="8852473" y="10002794"/>
                </a:lnTo>
                <a:lnTo>
                  <a:pt x="0" y="10002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42875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709254" y="626956"/>
            <a:ext cx="6679113" cy="85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sz="5958" i="true" spc="-5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MAPPING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3737" y="4599495"/>
            <a:ext cx="5270215" cy="112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Tables: 20</a:t>
            </a:r>
          </a:p>
          <a:p>
            <a:pPr algn="l">
              <a:lnSpc>
                <a:spcPts val="2968"/>
              </a:lnSpc>
            </a:pPr>
          </a:p>
          <a:p>
            <a:pPr algn="l">
              <a:lnSpc>
                <a:spcPts val="2968"/>
              </a:lnSpc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Satisfies the Third Normal Form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8103268" y="0"/>
            <a:ext cx="10184732" cy="10287000"/>
          </a:xfrm>
          <a:prstGeom prst="rect">
            <a:avLst/>
          </a:prstGeom>
          <a:solidFill>
            <a:srgbClr val="191919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3195634" y="1028700"/>
            <a:ext cx="6493903" cy="8229600"/>
          </a:xfrm>
          <a:custGeom>
            <a:avLst/>
            <a:gdLst/>
            <a:ahLst/>
            <a:cxnLst/>
            <a:rect r="r" b="b" t="t" l="l"/>
            <a:pathLst>
              <a:path h="8229600" w="6493903">
                <a:moveTo>
                  <a:pt x="0" y="0"/>
                </a:moveTo>
                <a:lnTo>
                  <a:pt x="6493903" y="0"/>
                </a:lnTo>
                <a:lnTo>
                  <a:pt x="649390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144000" y="2149222"/>
            <a:ext cx="5890376" cy="12365293"/>
          </a:xfrm>
          <a:custGeom>
            <a:avLst/>
            <a:gdLst/>
            <a:ahLst/>
            <a:cxnLst/>
            <a:rect r="r" b="b" t="t" l="l"/>
            <a:pathLst>
              <a:path h="12365293" w="5890376">
                <a:moveTo>
                  <a:pt x="5890376" y="0"/>
                </a:moveTo>
                <a:lnTo>
                  <a:pt x="0" y="0"/>
                </a:lnTo>
                <a:lnTo>
                  <a:pt x="0" y="12365293"/>
                </a:lnTo>
                <a:lnTo>
                  <a:pt x="5890376" y="12365293"/>
                </a:lnTo>
                <a:lnTo>
                  <a:pt x="58903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6618" y="792604"/>
            <a:ext cx="7074568" cy="91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8"/>
              </a:lnSpc>
            </a:pPr>
            <a:r>
              <a:rPr lang="en-US" sz="6311" i="true" spc="-63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DATABASE TABLES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1930" y="2268454"/>
            <a:ext cx="4412284" cy="437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Branch 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Equipment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Equipment Maintenance 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Facility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Feedback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Freeze 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Maintenance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Membership Packages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Payment Details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Staff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1718738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7970921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1028700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rot="0">
            <a:off x="6270859" y="9210675"/>
            <a:ext cx="3664819" cy="0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4824213" y="2268454"/>
            <a:ext cx="4412284" cy="525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Supplier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Supplies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Trainee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Trainee Attendance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Trainee Body Details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Trainee Feedback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 spc="-10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Trainee Health conditions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 spc="-10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Trainee Subscription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Trainer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Trainer Certificates</a:t>
            </a:r>
          </a:p>
          <a:p>
            <a:pPr algn="just" marL="561344" indent="-280672" lvl="1">
              <a:lnSpc>
                <a:spcPts val="351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Trainer Schedule</a:t>
            </a:r>
          </a:p>
          <a:p>
            <a:pPr algn="just">
              <a:lnSpc>
                <a:spcPts val="351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067216" cy="10287000"/>
          </a:xfrm>
          <a:prstGeom prst="rect">
            <a:avLst/>
          </a:prstGeom>
          <a:solidFill>
            <a:srgbClr val="191919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377288" y="773041"/>
            <a:ext cx="8168786" cy="8740918"/>
          </a:xfrm>
          <a:custGeom>
            <a:avLst/>
            <a:gdLst/>
            <a:ahLst/>
            <a:cxnLst/>
            <a:rect r="r" b="b" t="t" l="l"/>
            <a:pathLst>
              <a:path h="8740918" w="8168786">
                <a:moveTo>
                  <a:pt x="0" y="0"/>
                </a:moveTo>
                <a:lnTo>
                  <a:pt x="8168786" y="0"/>
                </a:lnTo>
                <a:lnTo>
                  <a:pt x="8168786" y="8740918"/>
                </a:lnTo>
                <a:lnTo>
                  <a:pt x="0" y="8740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7525753" y="1028700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5400000">
            <a:off x="5954679" y="6676474"/>
            <a:ext cx="411480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525753" y="3932822"/>
            <a:ext cx="1020278" cy="1020278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25753" y="6085422"/>
            <a:ext cx="1020278" cy="1020278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25753" y="8238022"/>
            <a:ext cx="1020278" cy="1020278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525753" y="1305500"/>
            <a:ext cx="6679113" cy="85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sz="5958" i="true" spc="-5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DATABASE CREATION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25753" y="2548444"/>
            <a:ext cx="7273089" cy="38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68"/>
              </a:lnSpc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created our database in three phases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34651" y="4238301"/>
            <a:ext cx="5270215" cy="75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Creating Constraints, Rules and Indexes to assure validation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42351" y="4247826"/>
            <a:ext cx="1187081" cy="43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2"/>
              </a:lnSpc>
            </a:pPr>
            <a:r>
              <a:rPr lang="en-US" b="true" sz="3200">
                <a:solidFill>
                  <a:srgbClr val="14141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42351" y="6400426"/>
            <a:ext cx="1187081" cy="43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2"/>
              </a:lnSpc>
            </a:pPr>
            <a:r>
              <a:rPr lang="en-US" b="true" sz="3200">
                <a:solidFill>
                  <a:srgbClr val="14141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42351" y="8553026"/>
            <a:ext cx="1187081" cy="43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2"/>
              </a:lnSpc>
            </a:pPr>
            <a:r>
              <a:rPr lang="en-US" b="true" sz="3200">
                <a:solidFill>
                  <a:srgbClr val="14141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34651" y="6161622"/>
            <a:ext cx="5270215" cy="112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Generating data using AI, Testing the data, Then inserting the 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34651" y="8302125"/>
            <a:ext cx="5270215" cy="112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Program the database via stored procedures, Triggers and defaults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28700" y="5741242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045127" y="1028700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414541" y="7000317"/>
            <a:ext cx="4470807" cy="4515967"/>
          </a:xfrm>
          <a:custGeom>
            <a:avLst/>
            <a:gdLst/>
            <a:ahLst/>
            <a:cxnLst/>
            <a:rect r="r" b="b" t="t" l="l"/>
            <a:pathLst>
              <a:path h="4515967" w="4470807">
                <a:moveTo>
                  <a:pt x="0" y="0"/>
                </a:moveTo>
                <a:lnTo>
                  <a:pt x="4470807" y="0"/>
                </a:lnTo>
                <a:lnTo>
                  <a:pt x="4470807" y="4515966"/>
                </a:lnTo>
                <a:lnTo>
                  <a:pt x="0" y="4515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Constraints &amp; Rules &amp; Defaults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17764" y="2579323"/>
            <a:ext cx="7628084" cy="7500942"/>
          </a:xfrm>
          <a:custGeom>
            <a:avLst/>
            <a:gdLst/>
            <a:ahLst/>
            <a:cxnLst/>
            <a:rect r="r" b="b" t="t" l="l"/>
            <a:pathLst>
              <a:path h="7500942" w="7628084">
                <a:moveTo>
                  <a:pt x="0" y="0"/>
                </a:moveTo>
                <a:lnTo>
                  <a:pt x="7628084" y="0"/>
                </a:lnTo>
                <a:lnTo>
                  <a:pt x="7628084" y="7500941"/>
                </a:lnTo>
                <a:lnTo>
                  <a:pt x="0" y="7500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778" r="-972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739959" y="1954123"/>
            <a:ext cx="6210520" cy="2046031"/>
          </a:xfrm>
          <a:custGeom>
            <a:avLst/>
            <a:gdLst/>
            <a:ahLst/>
            <a:cxnLst/>
            <a:rect r="r" b="b" t="t" l="l"/>
            <a:pathLst>
              <a:path h="2046031" w="6210520">
                <a:moveTo>
                  <a:pt x="0" y="0"/>
                </a:moveTo>
                <a:lnTo>
                  <a:pt x="6210520" y="0"/>
                </a:lnTo>
                <a:lnTo>
                  <a:pt x="6210520" y="2046032"/>
                </a:lnTo>
                <a:lnTo>
                  <a:pt x="0" y="20460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739959" y="4225073"/>
            <a:ext cx="6210520" cy="5855192"/>
          </a:xfrm>
          <a:custGeom>
            <a:avLst/>
            <a:gdLst/>
            <a:ahLst/>
            <a:cxnLst/>
            <a:rect r="r" b="b" t="t" l="l"/>
            <a:pathLst>
              <a:path h="5855192" w="6210520">
                <a:moveTo>
                  <a:pt x="0" y="0"/>
                </a:moveTo>
                <a:lnTo>
                  <a:pt x="6210520" y="0"/>
                </a:lnTo>
                <a:lnTo>
                  <a:pt x="6210520" y="5855191"/>
                </a:lnTo>
                <a:lnTo>
                  <a:pt x="0" y="5855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110064" y="1641045"/>
            <a:ext cx="3786498" cy="71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3"/>
              </a:lnSpc>
            </a:pPr>
            <a:r>
              <a:rPr lang="en-US" sz="4958" i="true" spc="-4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CONSTRAINTS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53461" y="2650843"/>
            <a:ext cx="3786498" cy="71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3"/>
              </a:lnSpc>
            </a:pPr>
            <a:r>
              <a:rPr lang="en-US" sz="4958" i="true" spc="-4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RULES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53461" y="5990280"/>
            <a:ext cx="3786498" cy="71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3"/>
              </a:lnSpc>
            </a:pPr>
            <a:r>
              <a:rPr lang="en-US" sz="4958" i="true" spc="-4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DEFAULTS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Generating &amp; Inserting Data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201150" y="4857750"/>
            <a:ext cx="8753807" cy="4828796"/>
          </a:xfrm>
          <a:custGeom>
            <a:avLst/>
            <a:gdLst/>
            <a:ahLst/>
            <a:cxnLst/>
            <a:rect r="r" b="b" t="t" l="l"/>
            <a:pathLst>
              <a:path h="4828796" w="8753807">
                <a:moveTo>
                  <a:pt x="0" y="0"/>
                </a:moveTo>
                <a:lnTo>
                  <a:pt x="8753807" y="0"/>
                </a:lnTo>
                <a:lnTo>
                  <a:pt x="8753807" y="4828796"/>
                </a:lnTo>
                <a:lnTo>
                  <a:pt x="0" y="4828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275060" y="2610234"/>
            <a:ext cx="2084484" cy="2084484"/>
          </a:xfrm>
          <a:custGeom>
            <a:avLst/>
            <a:gdLst/>
            <a:ahLst/>
            <a:cxnLst/>
            <a:rect r="r" b="b" t="t" l="l"/>
            <a:pathLst>
              <a:path h="2084484" w="2084484">
                <a:moveTo>
                  <a:pt x="0" y="0"/>
                </a:moveTo>
                <a:lnTo>
                  <a:pt x="2084484" y="0"/>
                </a:lnTo>
                <a:lnTo>
                  <a:pt x="2084484" y="2084484"/>
                </a:lnTo>
                <a:lnTo>
                  <a:pt x="0" y="2084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71610" y="2056833"/>
            <a:ext cx="3731249" cy="2800917"/>
          </a:xfrm>
          <a:custGeom>
            <a:avLst/>
            <a:gdLst/>
            <a:ahLst/>
            <a:cxnLst/>
            <a:rect r="r" b="b" t="t" l="l"/>
            <a:pathLst>
              <a:path h="2800917" w="3731249">
                <a:moveTo>
                  <a:pt x="0" y="0"/>
                </a:moveTo>
                <a:lnTo>
                  <a:pt x="3731249" y="0"/>
                </a:lnTo>
                <a:lnTo>
                  <a:pt x="3731249" y="2800917"/>
                </a:lnTo>
                <a:lnTo>
                  <a:pt x="0" y="2800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907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7764" y="2380683"/>
            <a:ext cx="3786498" cy="71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3"/>
              </a:lnSpc>
            </a:pPr>
            <a:r>
              <a:rPr lang="en-US" sz="4958" i="true" spc="-4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BULK INSERT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6175" y="3713985"/>
            <a:ext cx="8491154" cy="521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3" indent="-291467" lvl="1">
              <a:lnSpc>
                <a:spcPts val="415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Generated Data via AI (</a:t>
            </a:r>
            <a:r>
              <a:rPr lang="en-US" b="true" sz="2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</a:t>
            </a: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GPT, Gemini</a:t>
            </a: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 by adjusting the appropriate prompts to generate tables</a:t>
            </a:r>
          </a:p>
          <a:p>
            <a:pPr algn="just">
              <a:lnSpc>
                <a:spcPts val="4158"/>
              </a:lnSpc>
            </a:pPr>
          </a:p>
          <a:p>
            <a:pPr algn="just" marL="582933" indent="-291467" lvl="1">
              <a:lnSpc>
                <a:spcPts val="415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Ensured Data validation using </a:t>
            </a:r>
            <a:r>
              <a:rPr lang="en-US" b="true" sz="2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Excel</a:t>
            </a: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to check the cleanness of the data and data types Compatibility  </a:t>
            </a:r>
          </a:p>
          <a:p>
            <a:pPr algn="just">
              <a:lnSpc>
                <a:spcPts val="4158"/>
              </a:lnSpc>
            </a:pPr>
          </a:p>
          <a:p>
            <a:pPr algn="just" marL="582933" indent="-291467" lvl="1">
              <a:lnSpc>
                <a:spcPts val="4158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Inserted data into the database using </a:t>
            </a:r>
            <a:r>
              <a:rPr lang="en-US" b="true" sz="2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Bulk Insert</a:t>
            </a: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 SQL Server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952668" y="2610234"/>
            <a:ext cx="2002289" cy="2002289"/>
          </a:xfrm>
          <a:custGeom>
            <a:avLst/>
            <a:gdLst/>
            <a:ahLst/>
            <a:cxnLst/>
            <a:rect r="r" b="b" t="t" l="l"/>
            <a:pathLst>
              <a:path h="2002289" w="2002289">
                <a:moveTo>
                  <a:pt x="0" y="0"/>
                </a:moveTo>
                <a:lnTo>
                  <a:pt x="2002289" y="0"/>
                </a:lnTo>
                <a:lnTo>
                  <a:pt x="2002289" y="2002288"/>
                </a:lnTo>
                <a:lnTo>
                  <a:pt x="0" y="2002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9559510" cy="10287000"/>
          </a:xfrm>
          <a:prstGeom prst="rect">
            <a:avLst/>
          </a:prstGeom>
          <a:solidFill>
            <a:srgbClr val="CEE452"/>
          </a:solidFill>
          <a:ln w="95250" cap="sq">
            <a:solidFill>
              <a:srgbClr val="000000"/>
            </a:solidFill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 rot="0">
            <a:off x="15669928" y="4186989"/>
            <a:ext cx="1589372" cy="0"/>
          </a:xfrm>
          <a:prstGeom prst="line">
            <a:avLst/>
          </a:prstGeom>
          <a:ln cap="flat" w="28575">
            <a:solidFill>
              <a:srgbClr val="CEE4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80187" y="4463790"/>
            <a:ext cx="6679113" cy="85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3"/>
              </a:lnSpc>
            </a:pPr>
            <a:r>
              <a:rPr lang="en-US" sz="5958" i="true" spc="-5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INDEXES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345337" y="697832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30954" y="7970921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20678" y="-2595264"/>
            <a:ext cx="5138622" cy="5190527"/>
          </a:xfrm>
          <a:custGeom>
            <a:avLst/>
            <a:gdLst/>
            <a:ahLst/>
            <a:cxnLst/>
            <a:rect r="r" b="b" t="t" l="l"/>
            <a:pathLst>
              <a:path h="5190527" w="5138622">
                <a:moveTo>
                  <a:pt x="0" y="0"/>
                </a:moveTo>
                <a:lnTo>
                  <a:pt x="5138622" y="0"/>
                </a:lnTo>
                <a:lnTo>
                  <a:pt x="5138622" y="5190528"/>
                </a:lnTo>
                <a:lnTo>
                  <a:pt x="0" y="519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4988" y="4634750"/>
            <a:ext cx="8289533" cy="2083891"/>
          </a:xfrm>
          <a:custGeom>
            <a:avLst/>
            <a:gdLst/>
            <a:ahLst/>
            <a:cxnLst/>
            <a:rect r="r" b="b" t="t" l="l"/>
            <a:pathLst>
              <a:path h="2083891" w="8289533">
                <a:moveTo>
                  <a:pt x="0" y="0"/>
                </a:moveTo>
                <a:lnTo>
                  <a:pt x="8289534" y="0"/>
                </a:lnTo>
                <a:lnTo>
                  <a:pt x="8289534" y="2083891"/>
                </a:lnTo>
                <a:lnTo>
                  <a:pt x="0" y="20838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73" r="0" b="0"/>
            </a:stretch>
          </a:blipFill>
          <a:ln w="6667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9957318" y="5633934"/>
            <a:ext cx="7555970" cy="207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Created a non Clustered Index to on the trainee phone number to to improve and speed up the search process based on that field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597051" y="0"/>
            <a:ext cx="8690949" cy="10287000"/>
          </a:xfrm>
          <a:prstGeom prst="rect">
            <a:avLst/>
          </a:prstGeom>
          <a:solidFill>
            <a:srgbClr val="CEE4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970921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82878" y="727911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8"/>
                </a:lnTo>
                <a:lnTo>
                  <a:pt x="0" y="1287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rot="0">
            <a:off x="1028700" y="3404937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838252" y="-1029274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52995" y="4096124"/>
            <a:ext cx="8379062" cy="3370760"/>
          </a:xfrm>
          <a:custGeom>
            <a:avLst/>
            <a:gdLst/>
            <a:ahLst/>
            <a:cxnLst/>
            <a:rect r="r" b="b" t="t" l="l"/>
            <a:pathLst>
              <a:path h="3370760" w="8379062">
                <a:moveTo>
                  <a:pt x="0" y="0"/>
                </a:moveTo>
                <a:lnTo>
                  <a:pt x="8379061" y="0"/>
                </a:lnTo>
                <a:lnTo>
                  <a:pt x="8379061" y="3370760"/>
                </a:lnTo>
                <a:lnTo>
                  <a:pt x="0" y="33707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6" t="-8943" r="-66380" b="-6458"/>
            </a:stretch>
          </a:blipFill>
          <a:ln w="762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3681737"/>
            <a:ext cx="6873381" cy="85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sz="5958" i="true" spc="-5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STORED PROCEDURES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830424"/>
            <a:ext cx="7273089" cy="28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Created stored procedures to handle all </a:t>
            </a:r>
            <a:r>
              <a:rPr lang="en-US" sz="27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CRUD</a:t>
            </a: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operations (Create, Read, Update, Delete).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helps reduce repetitive code, improve performance, and ensure data is managed securely and consistently.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Stored Procedures for Adding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03991" y="3414299"/>
            <a:ext cx="9590522" cy="6009821"/>
          </a:xfrm>
          <a:custGeom>
            <a:avLst/>
            <a:gdLst/>
            <a:ahLst/>
            <a:cxnLst/>
            <a:rect r="r" b="b" t="t" l="l"/>
            <a:pathLst>
              <a:path h="6009821" w="9590522">
                <a:moveTo>
                  <a:pt x="0" y="0"/>
                </a:moveTo>
                <a:lnTo>
                  <a:pt x="9590523" y="0"/>
                </a:lnTo>
                <a:lnTo>
                  <a:pt x="9590523" y="6009820"/>
                </a:lnTo>
                <a:lnTo>
                  <a:pt x="0" y="6009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76200" cap="sq">
            <a:solidFill>
              <a:srgbClr val="CEE452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72649" y="3398910"/>
            <a:ext cx="8019229" cy="6078699"/>
          </a:xfrm>
          <a:custGeom>
            <a:avLst/>
            <a:gdLst/>
            <a:ahLst/>
            <a:cxnLst/>
            <a:rect r="r" b="b" t="t" l="l"/>
            <a:pathLst>
              <a:path h="6078699" w="8019229">
                <a:moveTo>
                  <a:pt x="0" y="0"/>
                </a:moveTo>
                <a:lnTo>
                  <a:pt x="8019229" y="0"/>
                </a:lnTo>
                <a:lnTo>
                  <a:pt x="8019229" y="6078699"/>
                </a:lnTo>
                <a:lnTo>
                  <a:pt x="0" y="60786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3" r="0" b="-113"/>
            </a:stretch>
          </a:blipFill>
          <a:ln w="47625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1379071" y="2509840"/>
            <a:ext cx="4463701" cy="71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3"/>
              </a:lnSpc>
            </a:pPr>
            <a:r>
              <a:rPr lang="en-US" sz="4958" i="true" spc="-4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ADD SUPPLIER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1316" y="2509840"/>
            <a:ext cx="4463701" cy="71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3"/>
              </a:lnSpc>
            </a:pPr>
            <a:r>
              <a:rPr lang="en-US" sz="4958" i="true" spc="-4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ADD BRANCH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Stored Procedures for Updating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4984" y="2906688"/>
            <a:ext cx="7376808" cy="7041498"/>
          </a:xfrm>
          <a:custGeom>
            <a:avLst/>
            <a:gdLst/>
            <a:ahLst/>
            <a:cxnLst/>
            <a:rect r="r" b="b" t="t" l="l"/>
            <a:pathLst>
              <a:path h="7041498" w="7376808">
                <a:moveTo>
                  <a:pt x="0" y="0"/>
                </a:moveTo>
                <a:lnTo>
                  <a:pt x="7376807" y="0"/>
                </a:lnTo>
                <a:lnTo>
                  <a:pt x="7376807" y="7041499"/>
                </a:lnTo>
                <a:lnTo>
                  <a:pt x="0" y="7041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121480" y="2906688"/>
            <a:ext cx="9858097" cy="7041498"/>
          </a:xfrm>
          <a:custGeom>
            <a:avLst/>
            <a:gdLst/>
            <a:ahLst/>
            <a:cxnLst/>
            <a:rect r="r" b="b" t="t" l="l"/>
            <a:pathLst>
              <a:path h="7041498" w="9858097">
                <a:moveTo>
                  <a:pt x="0" y="0"/>
                </a:moveTo>
                <a:lnTo>
                  <a:pt x="9858097" y="0"/>
                </a:lnTo>
                <a:lnTo>
                  <a:pt x="9858097" y="7041499"/>
                </a:lnTo>
                <a:lnTo>
                  <a:pt x="0" y="7041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9732079" y="1964868"/>
            <a:ext cx="6527556" cy="66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7"/>
              </a:lnSpc>
            </a:pPr>
            <a:r>
              <a:rPr lang="en-US" sz="4658" i="true" spc="-46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UPDATE TRAINER SCHEDULE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1537" y="1964868"/>
            <a:ext cx="4463701" cy="66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7"/>
              </a:lnSpc>
            </a:pPr>
            <a:r>
              <a:rPr lang="en-US" sz="4658" i="true" spc="-46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UPDATE TRAINER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Stored Procedures for Deleting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7211" y="4131912"/>
            <a:ext cx="9967799" cy="4831642"/>
          </a:xfrm>
          <a:custGeom>
            <a:avLst/>
            <a:gdLst/>
            <a:ahLst/>
            <a:cxnLst/>
            <a:rect r="r" b="b" t="t" l="l"/>
            <a:pathLst>
              <a:path h="4831642" w="9967799">
                <a:moveTo>
                  <a:pt x="0" y="0"/>
                </a:moveTo>
                <a:lnTo>
                  <a:pt x="9967799" y="0"/>
                </a:lnTo>
                <a:lnTo>
                  <a:pt x="9967799" y="4831642"/>
                </a:lnTo>
                <a:lnTo>
                  <a:pt x="0" y="4831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483581" y="3340903"/>
            <a:ext cx="7558105" cy="6546611"/>
          </a:xfrm>
          <a:custGeom>
            <a:avLst/>
            <a:gdLst/>
            <a:ahLst/>
            <a:cxnLst/>
            <a:rect r="r" b="b" t="t" l="l"/>
            <a:pathLst>
              <a:path h="6546611" w="7558105">
                <a:moveTo>
                  <a:pt x="0" y="0"/>
                </a:moveTo>
                <a:lnTo>
                  <a:pt x="7558105" y="0"/>
                </a:lnTo>
                <a:lnTo>
                  <a:pt x="7558105" y="6546611"/>
                </a:lnTo>
                <a:lnTo>
                  <a:pt x="0" y="6546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904152" y="2317145"/>
            <a:ext cx="6527556" cy="66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7"/>
              </a:lnSpc>
            </a:pPr>
            <a:r>
              <a:rPr lang="en-US" sz="4658" i="true" spc="-46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DELETE FEEDBACK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1537" y="2317145"/>
            <a:ext cx="4463701" cy="66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7"/>
              </a:lnSpc>
            </a:pPr>
            <a:r>
              <a:rPr lang="en-US" sz="4658" i="true" spc="-46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DELETE PACKAGE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Triggers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98175" y="3333016"/>
            <a:ext cx="10673974" cy="5614233"/>
          </a:xfrm>
          <a:custGeom>
            <a:avLst/>
            <a:gdLst/>
            <a:ahLst/>
            <a:cxnLst/>
            <a:rect r="r" b="b" t="t" l="l"/>
            <a:pathLst>
              <a:path h="5614233" w="10673974">
                <a:moveTo>
                  <a:pt x="0" y="0"/>
                </a:moveTo>
                <a:lnTo>
                  <a:pt x="10673975" y="0"/>
                </a:lnTo>
                <a:lnTo>
                  <a:pt x="10673975" y="5614233"/>
                </a:lnTo>
                <a:lnTo>
                  <a:pt x="0" y="5614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17764" y="2717454"/>
            <a:ext cx="8859208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1. PreventAttendance_AfterExpiry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513" y="4032294"/>
            <a:ext cx="6384478" cy="416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8"/>
              </a:lnSpc>
            </a:pPr>
            <a:r>
              <a:rPr lang="en-US" sz="23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Table: </a:t>
            </a: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TraineeAttendance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Fires:</a:t>
            </a: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AFTER INSERT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Purpose:</a:t>
            </a: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Prevents a trainee from logging attendance after their subscription has expired.</a:t>
            </a: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If someone tries to attend on a date later than their subscription expiry, the trigger rolls back the insert and shows an error.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Triggers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175899" y="1786772"/>
            <a:ext cx="6911947" cy="7998990"/>
          </a:xfrm>
          <a:custGeom>
            <a:avLst/>
            <a:gdLst/>
            <a:ahLst/>
            <a:cxnLst/>
            <a:rect r="r" b="b" t="t" l="l"/>
            <a:pathLst>
              <a:path h="7998990" w="6911947">
                <a:moveTo>
                  <a:pt x="0" y="0"/>
                </a:moveTo>
                <a:lnTo>
                  <a:pt x="6911948" y="0"/>
                </a:lnTo>
                <a:lnTo>
                  <a:pt x="6911948" y="7998990"/>
                </a:lnTo>
                <a:lnTo>
                  <a:pt x="0" y="7998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762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17764" y="2306382"/>
            <a:ext cx="8859208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 2. HandleFreeze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7764" y="3057477"/>
            <a:ext cx="6384478" cy="214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98"/>
              </a:lnSpc>
            </a:pPr>
            <a:r>
              <a:rPr lang="en-US" sz="20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Table: </a:t>
            </a: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Freeze</a:t>
            </a:r>
          </a:p>
          <a:p>
            <a:pPr algn="just">
              <a:lnSpc>
                <a:spcPts val="2898"/>
              </a:lnSpc>
            </a:pPr>
          </a:p>
          <a:p>
            <a:pPr algn="just">
              <a:lnSpc>
                <a:spcPts val="2898"/>
              </a:lnSpc>
            </a:pPr>
            <a:r>
              <a:rPr lang="en-US" sz="20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Fires:</a:t>
            </a: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AFTER INSERT, UPDATE</a:t>
            </a:r>
          </a:p>
          <a:p>
            <a:pPr algn="just">
              <a:lnSpc>
                <a:spcPts val="2898"/>
              </a:lnSpc>
            </a:pPr>
          </a:p>
          <a:p>
            <a:pPr algn="just">
              <a:lnSpc>
                <a:spcPts val="2898"/>
              </a:lnSpc>
            </a:pPr>
            <a:r>
              <a:rPr lang="en-US" sz="20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Purpose:</a:t>
            </a:r>
          </a:p>
          <a:p>
            <a:pPr algn="just">
              <a:lnSpc>
                <a:spcPts val="2898"/>
              </a:lnSpc>
            </a:pP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handles all freeze logic for subscriptions: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7764" y="5478913"/>
            <a:ext cx="10407222" cy="468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98"/>
              </a:lnSpc>
            </a:pPr>
            <a:r>
              <a:rPr lang="en-US" sz="20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 performs 3 main functions:</a:t>
            </a:r>
          </a:p>
          <a:p>
            <a:pPr algn="just">
              <a:lnSpc>
                <a:spcPts val="2898"/>
              </a:lnSpc>
            </a:pPr>
          </a:p>
          <a:p>
            <a:pPr algn="just">
              <a:lnSpc>
                <a:spcPts val="2898"/>
              </a:lnSpc>
            </a:pPr>
            <a:r>
              <a:rPr lang="en-US" sz="207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1.</a:t>
            </a:r>
            <a:r>
              <a:rPr lang="en-US" sz="207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</a:t>
            </a:r>
            <a:r>
              <a:rPr lang="en-US" sz="207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alidates first freeze:</a:t>
            </a: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Prevents a trainee from taking more freeze days than allowed on the first freeze in a subscription.</a:t>
            </a:r>
          </a:p>
          <a:p>
            <a:pPr algn="just">
              <a:lnSpc>
                <a:spcPts val="2898"/>
              </a:lnSpc>
            </a:pPr>
          </a:p>
          <a:p>
            <a:pPr algn="just">
              <a:lnSpc>
                <a:spcPts val="2898"/>
              </a:lnSpc>
            </a:pPr>
            <a:r>
              <a:rPr lang="en-US" sz="207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2.Validates remaining freezes:</a:t>
            </a: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If the trainee already used some freeze days, the trigger ensures the newly inserted freeze does not exceed the remaining allowed freeze days.</a:t>
            </a:r>
          </a:p>
          <a:p>
            <a:pPr algn="just">
              <a:lnSpc>
                <a:spcPts val="2898"/>
              </a:lnSpc>
            </a:pPr>
          </a:p>
          <a:p>
            <a:pPr algn="just">
              <a:lnSpc>
                <a:spcPts val="2898"/>
              </a:lnSpc>
            </a:pPr>
            <a:r>
              <a:rPr lang="en-US" sz="207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3.Updates freeze and subscription data automatically:</a:t>
            </a:r>
            <a:r>
              <a:rPr lang="en-US" sz="20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Calculates and sets the freeze EndDate, Calculates RemainingFreezes, Extends the trainee’s subscription ExpiryDate based on freeze days.</a:t>
            </a:r>
          </a:p>
          <a:p>
            <a:pPr algn="just">
              <a:lnSpc>
                <a:spcPts val="289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Triggers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1972515"/>
            <a:ext cx="8559793" cy="7893877"/>
          </a:xfrm>
          <a:custGeom>
            <a:avLst/>
            <a:gdLst/>
            <a:ahLst/>
            <a:cxnLst/>
            <a:rect r="r" b="b" t="t" l="l"/>
            <a:pathLst>
              <a:path h="7893877" w="8559793">
                <a:moveTo>
                  <a:pt x="0" y="0"/>
                </a:moveTo>
                <a:lnTo>
                  <a:pt x="8559793" y="0"/>
                </a:lnTo>
                <a:lnTo>
                  <a:pt x="8559793" y="7893877"/>
                </a:lnTo>
                <a:lnTo>
                  <a:pt x="0" y="7893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751352" y="3031779"/>
            <a:ext cx="8859208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3. TR_PreventBranchDelete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0164" y="4346619"/>
            <a:ext cx="6384478" cy="417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8"/>
              </a:lnSpc>
            </a:pPr>
            <a:r>
              <a:rPr lang="en-US" sz="23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Table: </a:t>
            </a: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Branch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Fires:</a:t>
            </a: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INSTEAD OF DELETE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Purpose:</a:t>
            </a: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Prevents deleting a branch if it is still linked to (Equipment, Facilities).</a:t>
            </a: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If any related records still exist, the trigger blocks the deletion and displays an error.</a:t>
            </a:r>
          </a:p>
          <a:p>
            <a:pPr algn="just">
              <a:lnSpc>
                <a:spcPts val="331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Triggers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83912" y="4107444"/>
            <a:ext cx="10086324" cy="4557204"/>
          </a:xfrm>
          <a:custGeom>
            <a:avLst/>
            <a:gdLst/>
            <a:ahLst/>
            <a:cxnLst/>
            <a:rect r="r" b="b" t="t" l="l"/>
            <a:pathLst>
              <a:path h="4557204" w="10086324">
                <a:moveTo>
                  <a:pt x="0" y="0"/>
                </a:moveTo>
                <a:lnTo>
                  <a:pt x="10086324" y="0"/>
                </a:lnTo>
                <a:lnTo>
                  <a:pt x="10086324" y="4557204"/>
                </a:lnTo>
                <a:lnTo>
                  <a:pt x="0" y="4557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1142" y="2783270"/>
            <a:ext cx="9635800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4.TR_UpdateEquipmentStatus_AfterMaintenance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7764" y="4482572"/>
            <a:ext cx="6384478" cy="37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8"/>
              </a:lnSpc>
            </a:pPr>
            <a:r>
              <a:rPr lang="en-US" sz="23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Table: </a:t>
            </a: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EquipmentMaintenance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Fires:</a:t>
            </a: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AFTER INSERT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Purpose:</a:t>
            </a: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Automatically updates the status of the equipment to "Under Maintenance" when a maintenance record is inserted.</a:t>
            </a:r>
          </a:p>
          <a:p>
            <a:pPr algn="just">
              <a:lnSpc>
                <a:spcPts val="331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Triggers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71035" y="4147883"/>
            <a:ext cx="10278469" cy="4522527"/>
          </a:xfrm>
          <a:custGeom>
            <a:avLst/>
            <a:gdLst/>
            <a:ahLst/>
            <a:cxnLst/>
            <a:rect r="r" b="b" t="t" l="l"/>
            <a:pathLst>
              <a:path h="4522527" w="10278469">
                <a:moveTo>
                  <a:pt x="0" y="0"/>
                </a:moveTo>
                <a:lnTo>
                  <a:pt x="10278469" y="0"/>
                </a:lnTo>
                <a:lnTo>
                  <a:pt x="10278469" y="4522526"/>
                </a:lnTo>
                <a:lnTo>
                  <a:pt x="0" y="452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1142" y="3140502"/>
            <a:ext cx="9635800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5. TR_EnforceOneManagerPerBranch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142" y="4333235"/>
            <a:ext cx="7366147" cy="459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8"/>
              </a:lnSpc>
            </a:pPr>
            <a:r>
              <a:rPr lang="en-US" sz="23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Table: </a:t>
            </a: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Branch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Fires:</a:t>
            </a: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FOR INSERT, UPDATE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Purpose:</a:t>
            </a: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Ensures that one manager cannot manage more than one branch.</a:t>
            </a: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If a manager ID appears in more than one branch, the trigger rolls back the change and raises an error.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31138" y="7512682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82878" y="727911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8"/>
                </a:lnTo>
                <a:lnTo>
                  <a:pt x="0" y="12873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670704" y="3267399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838252" y="-1029274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681737"/>
            <a:ext cx="6873381" cy="85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3"/>
              </a:lnSpc>
            </a:pPr>
            <a:r>
              <a:rPr lang="en-US" sz="5958" i="true" spc="-5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RFM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7046" y="4828124"/>
            <a:ext cx="12942115" cy="475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RFM (Recency, Frequency, Monetary) is a behavioral model used to evaluate member engagement and value. </a:t>
            </a:r>
          </a:p>
          <a:p>
            <a:pPr algn="just">
              <a:lnSpc>
                <a:spcPts val="3780"/>
              </a:lnSpc>
            </a:pP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Recency: How recently a member renewed. 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Frequency: How often they renew. 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Monetary: How much they spend.</a:t>
            </a:r>
          </a:p>
          <a:p>
            <a:pPr algn="just">
              <a:lnSpc>
                <a:spcPts val="3780"/>
              </a:lnSpc>
            </a:pP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RFM helps identify high-value members, understand loyalty patterns, and detect early signs of inactivity.</a:t>
            </a:r>
          </a:p>
          <a:p>
            <a:pPr algn="just" rtl="true">
              <a:lnSpc>
                <a:spcPts val="3780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575419" y="3960583"/>
            <a:ext cx="0" cy="1789428"/>
          </a:xfrm>
          <a:prstGeom prst="line">
            <a:avLst/>
          </a:prstGeom>
          <a:ln cap="flat" w="47625">
            <a:solidFill>
              <a:srgbClr val="780101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4" id="4"/>
          <p:cNvSpPr/>
          <p:nvPr/>
        </p:nvSpPr>
        <p:spPr>
          <a:xfrm>
            <a:off x="7981947" y="3960583"/>
            <a:ext cx="0" cy="1789428"/>
          </a:xfrm>
          <a:prstGeom prst="line">
            <a:avLst/>
          </a:prstGeom>
          <a:ln cap="flat" w="47625">
            <a:solidFill>
              <a:srgbClr val="CEE452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5" id="5"/>
          <p:cNvSpPr/>
          <p:nvPr/>
        </p:nvSpPr>
        <p:spPr>
          <a:xfrm>
            <a:off x="5278583" y="5950036"/>
            <a:ext cx="0" cy="1789428"/>
          </a:xfrm>
          <a:prstGeom prst="line">
            <a:avLst/>
          </a:prstGeom>
          <a:ln cap="flat" w="47625">
            <a:solidFill>
              <a:srgbClr val="C11520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1038225" y="4573040"/>
            <a:ext cx="3074388" cy="1528609"/>
            <a:chOff x="0" y="0"/>
            <a:chExt cx="1106885" cy="550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6885" cy="550352"/>
            </a:xfrm>
            <a:custGeom>
              <a:avLst/>
              <a:gdLst/>
              <a:ahLst/>
              <a:cxnLst/>
              <a:rect r="r" b="b" t="t" l="l"/>
              <a:pathLst>
                <a:path h="550352" w="1106885">
                  <a:moveTo>
                    <a:pt x="1106885" y="275176"/>
                  </a:moveTo>
                  <a:lnTo>
                    <a:pt x="903685" y="550352"/>
                  </a:lnTo>
                  <a:lnTo>
                    <a:pt x="203200" y="550352"/>
                  </a:lnTo>
                  <a:lnTo>
                    <a:pt x="0" y="275176"/>
                  </a:lnTo>
                  <a:lnTo>
                    <a:pt x="203200" y="0"/>
                  </a:lnTo>
                  <a:lnTo>
                    <a:pt x="903685" y="0"/>
                  </a:lnTo>
                  <a:lnTo>
                    <a:pt x="1106885" y="275176"/>
                  </a:lnTo>
                  <a:close/>
                </a:path>
              </a:pathLst>
            </a:custGeom>
            <a:solidFill>
              <a:srgbClr val="780101"/>
            </a:solidFill>
            <a:ln w="38100" cap="sq">
              <a:solidFill>
                <a:srgbClr val="E9E9E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47625"/>
              <a:ext cx="878285" cy="597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79964" y="5206194"/>
            <a:ext cx="2095500" cy="2095500"/>
          </a:xfrm>
          <a:custGeom>
            <a:avLst/>
            <a:gdLst/>
            <a:ahLst/>
            <a:cxnLst/>
            <a:rect r="r" b="b" t="t" l="l"/>
            <a:pathLst>
              <a:path h="2095500" w="209550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1679964" y="5206194"/>
            <a:ext cx="1790911" cy="179091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78010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44753" y="4573040"/>
            <a:ext cx="3074388" cy="1528609"/>
            <a:chOff x="0" y="0"/>
            <a:chExt cx="1106885" cy="5503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6885" cy="550352"/>
            </a:xfrm>
            <a:custGeom>
              <a:avLst/>
              <a:gdLst/>
              <a:ahLst/>
              <a:cxnLst/>
              <a:rect r="r" b="b" t="t" l="l"/>
              <a:pathLst>
                <a:path h="550352" w="1106885">
                  <a:moveTo>
                    <a:pt x="1106885" y="275176"/>
                  </a:moveTo>
                  <a:lnTo>
                    <a:pt x="903685" y="550352"/>
                  </a:lnTo>
                  <a:lnTo>
                    <a:pt x="203200" y="550352"/>
                  </a:lnTo>
                  <a:lnTo>
                    <a:pt x="0" y="275176"/>
                  </a:lnTo>
                  <a:lnTo>
                    <a:pt x="203200" y="0"/>
                  </a:lnTo>
                  <a:lnTo>
                    <a:pt x="903685" y="0"/>
                  </a:lnTo>
                  <a:lnTo>
                    <a:pt x="1106885" y="275176"/>
                  </a:lnTo>
                  <a:close/>
                </a:path>
              </a:pathLst>
            </a:custGeom>
            <a:solidFill>
              <a:srgbClr val="CEE452"/>
            </a:solidFill>
            <a:ln w="38100" cap="sq">
              <a:solidFill>
                <a:srgbClr val="E9E9E9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47625"/>
              <a:ext cx="878285" cy="597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086492" y="5206194"/>
            <a:ext cx="2095500" cy="2095500"/>
          </a:xfrm>
          <a:custGeom>
            <a:avLst/>
            <a:gdLst/>
            <a:ahLst/>
            <a:cxnLst/>
            <a:rect r="r" b="b" t="t" l="l"/>
            <a:pathLst>
              <a:path h="2095500" w="209550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7086492" y="5206194"/>
            <a:ext cx="1790911" cy="179091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CEE45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3385038" y="3960583"/>
            <a:ext cx="0" cy="1789428"/>
          </a:xfrm>
          <a:prstGeom prst="line">
            <a:avLst/>
          </a:prstGeom>
          <a:ln cap="flat" w="47625">
            <a:solidFill>
              <a:srgbClr val="283518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1847845" y="4573040"/>
            <a:ext cx="3074388" cy="1528609"/>
            <a:chOff x="0" y="0"/>
            <a:chExt cx="1106885" cy="5503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6885" cy="550352"/>
            </a:xfrm>
            <a:custGeom>
              <a:avLst/>
              <a:gdLst/>
              <a:ahLst/>
              <a:cxnLst/>
              <a:rect r="r" b="b" t="t" l="l"/>
              <a:pathLst>
                <a:path h="550352" w="1106885">
                  <a:moveTo>
                    <a:pt x="1106885" y="275176"/>
                  </a:moveTo>
                  <a:lnTo>
                    <a:pt x="903685" y="550352"/>
                  </a:lnTo>
                  <a:lnTo>
                    <a:pt x="203200" y="550352"/>
                  </a:lnTo>
                  <a:lnTo>
                    <a:pt x="0" y="275176"/>
                  </a:lnTo>
                  <a:lnTo>
                    <a:pt x="203200" y="0"/>
                  </a:lnTo>
                  <a:lnTo>
                    <a:pt x="903685" y="0"/>
                  </a:lnTo>
                  <a:lnTo>
                    <a:pt x="1106885" y="275176"/>
                  </a:lnTo>
                  <a:close/>
                </a:path>
              </a:pathLst>
            </a:custGeom>
            <a:solidFill>
              <a:srgbClr val="283518"/>
            </a:solidFill>
            <a:ln w="38100" cap="sq">
              <a:solidFill>
                <a:srgbClr val="E9E9E9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-47625"/>
              <a:ext cx="878285" cy="597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2489583" y="5206194"/>
            <a:ext cx="2095500" cy="2095500"/>
          </a:xfrm>
          <a:custGeom>
            <a:avLst/>
            <a:gdLst/>
            <a:ahLst/>
            <a:cxnLst/>
            <a:rect r="r" b="b" t="t" l="l"/>
            <a:pathLst>
              <a:path h="2095500" w="209550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5" id="25"/>
          <p:cNvGrpSpPr/>
          <p:nvPr/>
        </p:nvGrpSpPr>
        <p:grpSpPr>
          <a:xfrm rot="0">
            <a:off x="12489583" y="5206194"/>
            <a:ext cx="1790911" cy="179091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28351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3741389" y="5532473"/>
            <a:ext cx="3074388" cy="1528609"/>
            <a:chOff x="0" y="0"/>
            <a:chExt cx="1106885" cy="5503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6885" cy="550352"/>
            </a:xfrm>
            <a:custGeom>
              <a:avLst/>
              <a:gdLst/>
              <a:ahLst/>
              <a:cxnLst/>
              <a:rect r="r" b="b" t="t" l="l"/>
              <a:pathLst>
                <a:path h="550352" w="1106885">
                  <a:moveTo>
                    <a:pt x="1106885" y="275176"/>
                  </a:moveTo>
                  <a:lnTo>
                    <a:pt x="903685" y="550352"/>
                  </a:lnTo>
                  <a:lnTo>
                    <a:pt x="203200" y="550352"/>
                  </a:lnTo>
                  <a:lnTo>
                    <a:pt x="0" y="275176"/>
                  </a:lnTo>
                  <a:lnTo>
                    <a:pt x="203200" y="0"/>
                  </a:lnTo>
                  <a:lnTo>
                    <a:pt x="903685" y="0"/>
                  </a:lnTo>
                  <a:lnTo>
                    <a:pt x="1106885" y="275176"/>
                  </a:lnTo>
                  <a:close/>
                </a:path>
              </a:pathLst>
            </a:custGeom>
            <a:solidFill>
              <a:srgbClr val="C11520"/>
            </a:solidFill>
            <a:ln w="38100" cap="sq">
              <a:solidFill>
                <a:srgbClr val="E9E9E9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14300" y="-47625"/>
              <a:ext cx="878285" cy="597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4383128" y="4637018"/>
            <a:ext cx="2095500" cy="2095500"/>
          </a:xfrm>
          <a:custGeom>
            <a:avLst/>
            <a:gdLst/>
            <a:ahLst/>
            <a:cxnLst/>
            <a:rect r="r" b="b" t="t" l="l"/>
            <a:pathLst>
              <a:path h="2095500" w="209550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2" id="32"/>
          <p:cNvGrpSpPr/>
          <p:nvPr/>
        </p:nvGrpSpPr>
        <p:grpSpPr>
          <a:xfrm rot="-10800000">
            <a:off x="4383128" y="4637018"/>
            <a:ext cx="1790911" cy="179091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C1152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>
            <a:off x="10689289" y="5950036"/>
            <a:ext cx="0" cy="1789428"/>
          </a:xfrm>
          <a:prstGeom prst="line">
            <a:avLst/>
          </a:prstGeom>
          <a:ln cap="flat" w="47625">
            <a:solidFill>
              <a:srgbClr val="70820A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36" id="36"/>
          <p:cNvGrpSpPr/>
          <p:nvPr/>
        </p:nvGrpSpPr>
        <p:grpSpPr>
          <a:xfrm rot="-10800000">
            <a:off x="9152095" y="5532473"/>
            <a:ext cx="3074388" cy="1528609"/>
            <a:chOff x="0" y="0"/>
            <a:chExt cx="1106885" cy="5503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6885" cy="550352"/>
            </a:xfrm>
            <a:custGeom>
              <a:avLst/>
              <a:gdLst/>
              <a:ahLst/>
              <a:cxnLst/>
              <a:rect r="r" b="b" t="t" l="l"/>
              <a:pathLst>
                <a:path h="550352" w="1106885">
                  <a:moveTo>
                    <a:pt x="1106885" y="275176"/>
                  </a:moveTo>
                  <a:lnTo>
                    <a:pt x="903685" y="550352"/>
                  </a:lnTo>
                  <a:lnTo>
                    <a:pt x="203200" y="550352"/>
                  </a:lnTo>
                  <a:lnTo>
                    <a:pt x="0" y="275176"/>
                  </a:lnTo>
                  <a:lnTo>
                    <a:pt x="203200" y="0"/>
                  </a:lnTo>
                  <a:lnTo>
                    <a:pt x="903685" y="0"/>
                  </a:lnTo>
                  <a:lnTo>
                    <a:pt x="1106885" y="275176"/>
                  </a:lnTo>
                  <a:close/>
                </a:path>
              </a:pathLst>
            </a:custGeom>
            <a:solidFill>
              <a:srgbClr val="70820A"/>
            </a:solidFill>
            <a:ln w="38100" cap="sq">
              <a:solidFill>
                <a:srgbClr val="E9E9E9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114300" y="-47625"/>
              <a:ext cx="878285" cy="597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9793834" y="4637018"/>
            <a:ext cx="2095500" cy="2095500"/>
          </a:xfrm>
          <a:custGeom>
            <a:avLst/>
            <a:gdLst/>
            <a:ahLst/>
            <a:cxnLst/>
            <a:rect r="r" b="b" t="t" l="l"/>
            <a:pathLst>
              <a:path h="2095500" w="209550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0" id="40"/>
          <p:cNvGrpSpPr/>
          <p:nvPr/>
        </p:nvGrpSpPr>
        <p:grpSpPr>
          <a:xfrm rot="-10800000">
            <a:off x="9793834" y="4637018"/>
            <a:ext cx="1790911" cy="1790911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70820A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AutoShape 43" id="43"/>
          <p:cNvSpPr/>
          <p:nvPr/>
        </p:nvSpPr>
        <p:spPr>
          <a:xfrm>
            <a:off x="16087618" y="5950036"/>
            <a:ext cx="28575" cy="1789428"/>
          </a:xfrm>
          <a:prstGeom prst="line">
            <a:avLst/>
          </a:prstGeom>
          <a:ln cap="flat" w="47625">
            <a:solidFill>
              <a:srgbClr val="606C39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44" id="44"/>
          <p:cNvGrpSpPr/>
          <p:nvPr/>
        </p:nvGrpSpPr>
        <p:grpSpPr>
          <a:xfrm rot="-10800000">
            <a:off x="14564712" y="5532473"/>
            <a:ext cx="3074388" cy="1528609"/>
            <a:chOff x="0" y="0"/>
            <a:chExt cx="1106885" cy="5503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06885" cy="550352"/>
            </a:xfrm>
            <a:custGeom>
              <a:avLst/>
              <a:gdLst/>
              <a:ahLst/>
              <a:cxnLst/>
              <a:rect r="r" b="b" t="t" l="l"/>
              <a:pathLst>
                <a:path h="550352" w="1106885">
                  <a:moveTo>
                    <a:pt x="1106885" y="275176"/>
                  </a:moveTo>
                  <a:lnTo>
                    <a:pt x="903685" y="550352"/>
                  </a:lnTo>
                  <a:lnTo>
                    <a:pt x="203200" y="550352"/>
                  </a:lnTo>
                  <a:lnTo>
                    <a:pt x="0" y="275176"/>
                  </a:lnTo>
                  <a:lnTo>
                    <a:pt x="203200" y="0"/>
                  </a:lnTo>
                  <a:lnTo>
                    <a:pt x="903685" y="0"/>
                  </a:lnTo>
                  <a:lnTo>
                    <a:pt x="1106885" y="275176"/>
                  </a:lnTo>
                  <a:close/>
                </a:path>
              </a:pathLst>
            </a:custGeom>
            <a:solidFill>
              <a:srgbClr val="606C39"/>
            </a:solidFill>
            <a:ln w="38100" cap="sq">
              <a:solidFill>
                <a:srgbClr val="E9E9E9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114300" y="-47625"/>
              <a:ext cx="878285" cy="597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5206450" y="4637018"/>
            <a:ext cx="2095500" cy="2095500"/>
          </a:xfrm>
          <a:custGeom>
            <a:avLst/>
            <a:gdLst/>
            <a:ahLst/>
            <a:cxnLst/>
            <a:rect r="r" b="b" t="t" l="l"/>
            <a:pathLst>
              <a:path h="2095500" w="209550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-10800000">
            <a:off x="15206450" y="4637018"/>
            <a:ext cx="1790911" cy="1790911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606C39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4888160" y="5056223"/>
            <a:ext cx="816769" cy="952500"/>
          </a:xfrm>
          <a:custGeom>
            <a:avLst/>
            <a:gdLst/>
            <a:ahLst/>
            <a:cxnLst/>
            <a:rect r="r" b="b" t="t" l="l"/>
            <a:pathLst>
              <a:path h="952500" w="816769">
                <a:moveTo>
                  <a:pt x="0" y="0"/>
                </a:moveTo>
                <a:lnTo>
                  <a:pt x="816768" y="0"/>
                </a:lnTo>
                <a:lnTo>
                  <a:pt x="816768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2022443" y="5673024"/>
            <a:ext cx="1105951" cy="952500"/>
          </a:xfrm>
          <a:custGeom>
            <a:avLst/>
            <a:gdLst/>
            <a:ahLst/>
            <a:cxnLst/>
            <a:rect r="r" b="b" t="t" l="l"/>
            <a:pathLst>
              <a:path h="952500" w="1105951">
                <a:moveTo>
                  <a:pt x="0" y="0"/>
                </a:moveTo>
                <a:lnTo>
                  <a:pt x="1105951" y="0"/>
                </a:lnTo>
                <a:lnTo>
                  <a:pt x="1105951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7505697" y="5711124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0242090" y="4951448"/>
            <a:ext cx="894397" cy="1143000"/>
          </a:xfrm>
          <a:custGeom>
            <a:avLst/>
            <a:gdLst/>
            <a:ahLst/>
            <a:cxnLst/>
            <a:rect r="r" b="b" t="t" l="l"/>
            <a:pathLst>
              <a:path h="1143000" w="894397">
                <a:moveTo>
                  <a:pt x="0" y="0"/>
                </a:moveTo>
                <a:lnTo>
                  <a:pt x="894398" y="0"/>
                </a:lnTo>
                <a:lnTo>
                  <a:pt x="894398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2921808" y="5625399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5665182" y="5046698"/>
            <a:ext cx="903684" cy="952500"/>
          </a:xfrm>
          <a:custGeom>
            <a:avLst/>
            <a:gdLst/>
            <a:ahLst/>
            <a:cxnLst/>
            <a:rect r="r" b="b" t="t" l="l"/>
            <a:pathLst>
              <a:path h="952500" w="903684">
                <a:moveTo>
                  <a:pt x="0" y="0"/>
                </a:moveTo>
                <a:lnTo>
                  <a:pt x="903685" y="0"/>
                </a:lnTo>
                <a:lnTo>
                  <a:pt x="90368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-504756" y="7655630"/>
            <a:ext cx="1374592" cy="1402645"/>
          </a:xfrm>
          <a:custGeom>
            <a:avLst/>
            <a:gdLst/>
            <a:ahLst/>
            <a:cxnLst/>
            <a:rect r="r" b="b" t="t" l="l"/>
            <a:pathLst>
              <a:path h="1402645" w="1374592">
                <a:moveTo>
                  <a:pt x="0" y="0"/>
                </a:moveTo>
                <a:lnTo>
                  <a:pt x="1374592" y="0"/>
                </a:lnTo>
                <a:lnTo>
                  <a:pt x="1374592" y="1402645"/>
                </a:lnTo>
                <a:lnTo>
                  <a:pt x="0" y="140264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9999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8" id="58"/>
          <p:cNvSpPr txBox="true"/>
          <p:nvPr/>
        </p:nvSpPr>
        <p:spPr>
          <a:xfrm rot="0">
            <a:off x="2184995" y="3163067"/>
            <a:ext cx="78084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780101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888160" y="8004057"/>
            <a:ext cx="78084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C11520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298865" y="8004057"/>
            <a:ext cx="78084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70820A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591524" y="3163067"/>
            <a:ext cx="78084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CEE452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994615" y="3163067"/>
            <a:ext cx="78084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283518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711482" y="8004057"/>
            <a:ext cx="78084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606C39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419268" y="8451732"/>
            <a:ext cx="339551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Elite</a:t>
            </a:r>
            <a:r>
              <a:rPr lang="en-US" b="true" sz="25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Members 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highest value, very loyal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023025" y="2299212"/>
            <a:ext cx="282431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Highly Active</a:t>
            </a:r>
            <a:r>
              <a:rPr lang="en-US" b="true" sz="25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consistent renewals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2027" y="256484"/>
            <a:ext cx="7808608" cy="71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3"/>
              </a:lnSpc>
            </a:pPr>
            <a:r>
              <a:rPr lang="en-US" sz="4958" i="true" spc="-4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RFM Scoring &amp; Segmentation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14845204" y="-360688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8583297" y="8451732"/>
            <a:ext cx="421198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Consistent</a:t>
            </a:r>
            <a:r>
              <a:rPr lang="en-US" b="true" sz="25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Members 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stable but moderate spenders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866101" y="2311471"/>
            <a:ext cx="437271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At-Risk Members 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declining recency or frequency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008313" y="8467725"/>
            <a:ext cx="229716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Hibernating 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minimal activity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40866" y="2311471"/>
            <a:ext cx="266744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Lost Members 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recent renewals</a:t>
            </a:r>
          </a:p>
        </p:txBody>
      </p:sp>
      <p:sp>
        <p:nvSpPr>
          <p:cNvPr name="Freeform 72" id="72"/>
          <p:cNvSpPr/>
          <p:nvPr/>
        </p:nvSpPr>
        <p:spPr>
          <a:xfrm flipH="false" flipV="false" rot="-10800000">
            <a:off x="-1586910" y="9058275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3" id="73"/>
          <p:cNvSpPr/>
          <p:nvPr/>
        </p:nvSpPr>
        <p:spPr>
          <a:xfrm>
            <a:off x="1028700" y="1028700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8477624" y="0"/>
            <a:ext cx="9810376" cy="10287000"/>
          </a:xfrm>
          <a:prstGeom prst="rect">
            <a:avLst/>
          </a:prstGeom>
          <a:solidFill>
            <a:srgbClr val="CEE4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838252" y="-1029274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5722526" y="7870813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5062" y="1028700"/>
            <a:ext cx="7481172" cy="8229600"/>
          </a:xfrm>
          <a:custGeom>
            <a:avLst/>
            <a:gdLst/>
            <a:ahLst/>
            <a:cxnLst/>
            <a:rect r="r" b="b" t="t" l="l"/>
            <a:pathLst>
              <a:path h="8229600" w="7481172">
                <a:moveTo>
                  <a:pt x="0" y="0"/>
                </a:moveTo>
                <a:lnTo>
                  <a:pt x="7481172" y="0"/>
                </a:lnTo>
                <a:lnTo>
                  <a:pt x="748117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90419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601555" y="1028700"/>
            <a:ext cx="9562514" cy="8229600"/>
          </a:xfrm>
          <a:custGeom>
            <a:avLst/>
            <a:gdLst/>
            <a:ahLst/>
            <a:cxnLst/>
            <a:rect r="r" b="b" t="t" l="l"/>
            <a:pathLst>
              <a:path h="8229600" w="9562514">
                <a:moveTo>
                  <a:pt x="0" y="0"/>
                </a:moveTo>
                <a:lnTo>
                  <a:pt x="9562514" y="0"/>
                </a:lnTo>
                <a:lnTo>
                  <a:pt x="95625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8943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15001"/>
            <a:ext cx="7074568" cy="91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8"/>
              </a:lnSpc>
            </a:pPr>
            <a:r>
              <a:rPr lang="en-US" sz="6311" i="true" spc="-63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SSRS REPORTS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7762" y="4764998"/>
            <a:ext cx="10972081" cy="3512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35"/>
              </a:lnSpc>
            </a:pP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Developed a collection of SSRS reports powered by custom stored procedures to support operational, financial, and managerial decision-making across different branches of the fitness center.</a:t>
            </a:r>
          </a:p>
          <a:p>
            <a:pPr algn="just">
              <a:lnSpc>
                <a:spcPts val="2835"/>
              </a:lnSpc>
            </a:pPr>
          </a:p>
          <a:p>
            <a:pPr algn="just">
              <a:lnSpc>
                <a:spcPts val="2835"/>
              </a:lnSpc>
            </a:pP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Each stored procedure extracts and structures branch-specific data, allowing the reports to be fully dynamic and filterable by one or multiple branches.</a:t>
            </a:r>
          </a:p>
          <a:p>
            <a:pPr algn="just">
              <a:lnSpc>
                <a:spcPts val="2835"/>
              </a:lnSpc>
            </a:pPr>
          </a:p>
          <a:p>
            <a:pPr algn="just">
              <a:lnSpc>
                <a:spcPts val="2835"/>
              </a:lnSpc>
            </a:pP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These reports provide visibility into </a:t>
            </a:r>
            <a:r>
              <a:rPr lang="en-US" b="true" sz="2100" spc="2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staff performance</a:t>
            </a: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2100" spc="2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financial trends</a:t>
            </a: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2100" spc="2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operational activities</a:t>
            </a: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lang="en-US" b="true" sz="2100" spc="2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customer feedback</a:t>
            </a: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helping management monitor the business and make informed decisions.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1028700" y="3013911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271116" y="-1334575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36270" y="4435571"/>
            <a:ext cx="6041093" cy="3591440"/>
          </a:xfrm>
          <a:custGeom>
            <a:avLst/>
            <a:gdLst/>
            <a:ahLst/>
            <a:cxnLst/>
            <a:rect r="r" b="b" t="t" l="l"/>
            <a:pathLst>
              <a:path h="3591440" w="6041093">
                <a:moveTo>
                  <a:pt x="0" y="0"/>
                </a:moveTo>
                <a:lnTo>
                  <a:pt x="6041093" y="0"/>
                </a:lnTo>
                <a:lnTo>
                  <a:pt x="6041093" y="3591440"/>
                </a:lnTo>
                <a:lnTo>
                  <a:pt x="0" y="3591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SSRS Stored Procedured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904728" y="3121452"/>
            <a:ext cx="9965508" cy="5492617"/>
          </a:xfrm>
          <a:custGeom>
            <a:avLst/>
            <a:gdLst/>
            <a:ahLst/>
            <a:cxnLst/>
            <a:rect r="r" b="b" t="t" l="l"/>
            <a:pathLst>
              <a:path h="5492617" w="9965508">
                <a:moveTo>
                  <a:pt x="0" y="0"/>
                </a:moveTo>
                <a:lnTo>
                  <a:pt x="9965508" y="0"/>
                </a:lnTo>
                <a:lnTo>
                  <a:pt x="9965508" y="5492617"/>
                </a:lnTo>
                <a:lnTo>
                  <a:pt x="0" y="5492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1142" y="3140502"/>
            <a:ext cx="9635800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1. Trainer Salaries Report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142" y="4597276"/>
            <a:ext cx="7366147" cy="208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Shows trainer payroll information, including salary, seniority, and the branch location.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helps management track trainer distribution and compensation across selected branches.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SSRS Stored Procedured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903867" y="3697799"/>
            <a:ext cx="10215117" cy="4348604"/>
          </a:xfrm>
          <a:custGeom>
            <a:avLst/>
            <a:gdLst/>
            <a:ahLst/>
            <a:cxnLst/>
            <a:rect r="r" b="b" t="t" l="l"/>
            <a:pathLst>
              <a:path h="4348604" w="10215117">
                <a:moveTo>
                  <a:pt x="0" y="0"/>
                </a:moveTo>
                <a:lnTo>
                  <a:pt x="10215117" y="0"/>
                </a:lnTo>
                <a:lnTo>
                  <a:pt x="10215117" y="4348604"/>
                </a:lnTo>
                <a:lnTo>
                  <a:pt x="0" y="4348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1142" y="3140502"/>
            <a:ext cx="9635800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2. Staff Salaries Report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142" y="4597276"/>
            <a:ext cx="7366147" cy="250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Displays details about staff members such as name, salary, job position, employment status, and the branch they belong to.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Used to monitor HR structure and payroll expenses per branch.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9144000" cy="10287000"/>
          </a:xfrm>
          <a:prstGeom prst="rect">
            <a:avLst/>
          </a:prstGeom>
          <a:solidFill>
            <a:srgbClr val="CEE4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952237" y="-4679622"/>
            <a:ext cx="5138622" cy="5190527"/>
          </a:xfrm>
          <a:custGeom>
            <a:avLst/>
            <a:gdLst/>
            <a:ahLst/>
            <a:cxnLst/>
            <a:rect r="r" b="b" t="t" l="l"/>
            <a:pathLst>
              <a:path h="5190527" w="5138622">
                <a:moveTo>
                  <a:pt x="0" y="0"/>
                </a:moveTo>
                <a:lnTo>
                  <a:pt x="5138622" y="0"/>
                </a:lnTo>
                <a:lnTo>
                  <a:pt x="5138622" y="5190527"/>
                </a:lnTo>
                <a:lnTo>
                  <a:pt x="0" y="5190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5930" y="1775688"/>
            <a:ext cx="5972140" cy="8227245"/>
          </a:xfrm>
          <a:custGeom>
            <a:avLst/>
            <a:gdLst/>
            <a:ahLst/>
            <a:cxnLst/>
            <a:rect r="r" b="b" t="t" l="l"/>
            <a:pathLst>
              <a:path h="8227245" w="5972140">
                <a:moveTo>
                  <a:pt x="0" y="0"/>
                </a:moveTo>
                <a:lnTo>
                  <a:pt x="5972140" y="0"/>
                </a:lnTo>
                <a:lnTo>
                  <a:pt x="5972140" y="8227245"/>
                </a:lnTo>
                <a:lnTo>
                  <a:pt x="0" y="8227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721945" y="1775688"/>
            <a:ext cx="5866599" cy="8127684"/>
          </a:xfrm>
          <a:custGeom>
            <a:avLst/>
            <a:gdLst/>
            <a:ahLst/>
            <a:cxnLst/>
            <a:rect r="r" b="b" t="t" l="l"/>
            <a:pathLst>
              <a:path h="8127684" w="5866599">
                <a:moveTo>
                  <a:pt x="0" y="0"/>
                </a:moveTo>
                <a:lnTo>
                  <a:pt x="5866599" y="0"/>
                </a:lnTo>
                <a:lnTo>
                  <a:pt x="5866599" y="8127684"/>
                </a:lnTo>
                <a:lnTo>
                  <a:pt x="0" y="8127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128407" y="872855"/>
            <a:ext cx="4887186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000000"/>
                </a:solidFill>
                <a:latin typeface="Anton Italics"/>
                <a:ea typeface="Anton Italics"/>
                <a:cs typeface="Anton Italics"/>
                <a:sym typeface="Anton Italics"/>
              </a:rPr>
              <a:t>1. Trainer Salaries Report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06905" y="872855"/>
            <a:ext cx="4696678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2. Staff Salaries Report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SSRS Stored Procedured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688323" y="2893176"/>
            <a:ext cx="9181913" cy="5383851"/>
          </a:xfrm>
          <a:custGeom>
            <a:avLst/>
            <a:gdLst/>
            <a:ahLst/>
            <a:cxnLst/>
            <a:rect r="r" b="b" t="t" l="l"/>
            <a:pathLst>
              <a:path h="5383851" w="9181913">
                <a:moveTo>
                  <a:pt x="0" y="0"/>
                </a:moveTo>
                <a:lnTo>
                  <a:pt x="9181913" y="0"/>
                </a:lnTo>
                <a:lnTo>
                  <a:pt x="9181913" y="5383851"/>
                </a:lnTo>
                <a:lnTo>
                  <a:pt x="0" y="5383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1142" y="3140502"/>
            <a:ext cx="9635800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3. Equipment Maintenance Report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142" y="4597276"/>
            <a:ext cx="7847634" cy="292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Provides a detailed view of equipment maintenance activities, including maintenance type, cost, date, and equipment category.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report helps branches track maintenance expenses and ensure equipment is properly serviced.</a:t>
            </a:r>
          </a:p>
          <a:p>
            <a:pPr algn="just">
              <a:lnSpc>
                <a:spcPts val="331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SSRS Stored Procedured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44680" y="4041050"/>
            <a:ext cx="9852989" cy="3843921"/>
          </a:xfrm>
          <a:custGeom>
            <a:avLst/>
            <a:gdLst/>
            <a:ahLst/>
            <a:cxnLst/>
            <a:rect r="r" b="b" t="t" l="l"/>
            <a:pathLst>
              <a:path h="3843921" w="9852989">
                <a:moveTo>
                  <a:pt x="0" y="0"/>
                </a:moveTo>
                <a:lnTo>
                  <a:pt x="9852990" y="0"/>
                </a:lnTo>
                <a:lnTo>
                  <a:pt x="9852990" y="3843921"/>
                </a:lnTo>
                <a:lnTo>
                  <a:pt x="0" y="3843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1142" y="3140502"/>
            <a:ext cx="9635800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4. Supplies Details Report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142" y="4597276"/>
            <a:ext cx="7568061" cy="250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Shows all supplies purchased by each branch, including quantity, price, supplier name, purchase date, and total spending.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Useful for monitoring inventory, purchasing patterns, and supplier relationships.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9144000" cy="10287000"/>
          </a:xfrm>
          <a:prstGeom prst="rect">
            <a:avLst/>
          </a:prstGeom>
          <a:solidFill>
            <a:srgbClr val="CEE4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952237" y="-4679622"/>
            <a:ext cx="5138622" cy="5190527"/>
          </a:xfrm>
          <a:custGeom>
            <a:avLst/>
            <a:gdLst/>
            <a:ahLst/>
            <a:cxnLst/>
            <a:rect r="r" b="b" t="t" l="l"/>
            <a:pathLst>
              <a:path h="5190527" w="5138622">
                <a:moveTo>
                  <a:pt x="0" y="0"/>
                </a:moveTo>
                <a:lnTo>
                  <a:pt x="5138622" y="0"/>
                </a:lnTo>
                <a:lnTo>
                  <a:pt x="5138622" y="5190527"/>
                </a:lnTo>
                <a:lnTo>
                  <a:pt x="0" y="5190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77669" y="1775688"/>
            <a:ext cx="6021843" cy="8227245"/>
          </a:xfrm>
          <a:custGeom>
            <a:avLst/>
            <a:gdLst/>
            <a:ahLst/>
            <a:cxnLst/>
            <a:rect r="r" b="b" t="t" l="l"/>
            <a:pathLst>
              <a:path h="8227245" w="6021843">
                <a:moveTo>
                  <a:pt x="0" y="0"/>
                </a:moveTo>
                <a:lnTo>
                  <a:pt x="6021843" y="0"/>
                </a:lnTo>
                <a:lnTo>
                  <a:pt x="6021843" y="8227245"/>
                </a:lnTo>
                <a:lnTo>
                  <a:pt x="0" y="8227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70378" y="1775688"/>
            <a:ext cx="6003245" cy="8227245"/>
          </a:xfrm>
          <a:custGeom>
            <a:avLst/>
            <a:gdLst/>
            <a:ahLst/>
            <a:cxnLst/>
            <a:rect r="r" b="b" t="t" l="l"/>
            <a:pathLst>
              <a:path h="8227245" w="6003245">
                <a:moveTo>
                  <a:pt x="0" y="0"/>
                </a:moveTo>
                <a:lnTo>
                  <a:pt x="6003244" y="0"/>
                </a:lnTo>
                <a:lnTo>
                  <a:pt x="6003244" y="8227245"/>
                </a:lnTo>
                <a:lnTo>
                  <a:pt x="0" y="82272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204263" y="756687"/>
            <a:ext cx="6735473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000000"/>
                </a:solidFill>
                <a:latin typeface="Anton Italics"/>
                <a:ea typeface="Anton Italics"/>
                <a:cs typeface="Anton Italics"/>
                <a:sym typeface="Anton Italics"/>
              </a:rPr>
              <a:t>3. Equipment Maintenance Report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14425" y="756687"/>
            <a:ext cx="5281639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4. Supplies Details Report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SSRS Stored Procedured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52522" y="3885469"/>
            <a:ext cx="10066223" cy="4064238"/>
          </a:xfrm>
          <a:custGeom>
            <a:avLst/>
            <a:gdLst/>
            <a:ahLst/>
            <a:cxnLst/>
            <a:rect r="r" b="b" t="t" l="l"/>
            <a:pathLst>
              <a:path h="4064238" w="10066223">
                <a:moveTo>
                  <a:pt x="0" y="0"/>
                </a:moveTo>
                <a:lnTo>
                  <a:pt x="10066223" y="0"/>
                </a:lnTo>
                <a:lnTo>
                  <a:pt x="10066223" y="4064238"/>
                </a:lnTo>
                <a:lnTo>
                  <a:pt x="0" y="4064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61142" y="3140502"/>
            <a:ext cx="9635800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5. Financial Performance Report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142" y="4162385"/>
            <a:ext cx="7568061" cy="417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Summarizes yearly revenue for each branch, including:</a:t>
            </a:r>
          </a:p>
          <a:p>
            <a:pPr algn="just" marL="511712" indent="-255856" lvl="1">
              <a:lnSpc>
                <a:spcPts val="3318"/>
              </a:lnSpc>
              <a:buFont typeface="Arial"/>
              <a:buChar char="•"/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amount collected</a:t>
            </a:r>
          </a:p>
          <a:p>
            <a:pPr algn="just" marL="511712" indent="-255856" lvl="1">
              <a:lnSpc>
                <a:spcPts val="3318"/>
              </a:lnSpc>
              <a:buFont typeface="Arial"/>
              <a:buChar char="•"/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Year-over-year (YoY) change</a:t>
            </a:r>
          </a:p>
          <a:p>
            <a:pPr algn="just" marL="511712" indent="-255856" lvl="1">
              <a:lnSpc>
                <a:spcPts val="3318"/>
              </a:lnSpc>
              <a:buFont typeface="Arial"/>
              <a:buChar char="•"/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YoY percentage growth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report helps assess financial health and track revenue trends across branches.</a:t>
            </a:r>
          </a:p>
          <a:p>
            <a:pPr algn="just">
              <a:lnSpc>
                <a:spcPts val="331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SSRS Stored Procedured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264368" y="3028733"/>
            <a:ext cx="9605867" cy="5890017"/>
          </a:xfrm>
          <a:custGeom>
            <a:avLst/>
            <a:gdLst/>
            <a:ahLst/>
            <a:cxnLst/>
            <a:rect r="r" b="b" t="t" l="l"/>
            <a:pathLst>
              <a:path h="5890017" w="9605867">
                <a:moveTo>
                  <a:pt x="0" y="0"/>
                </a:moveTo>
                <a:lnTo>
                  <a:pt x="9605868" y="0"/>
                </a:lnTo>
                <a:lnTo>
                  <a:pt x="9605868" y="5890018"/>
                </a:lnTo>
                <a:lnTo>
                  <a:pt x="0" y="5890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17764" y="3187098"/>
            <a:ext cx="9635800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6. Branch Feedback Report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7764" y="4852314"/>
            <a:ext cx="7568061" cy="208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Displays customer feedback categories and the average rating received per branch.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It helps management evaluate customer satisfaction and identify areas needing improvement.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9144000" cy="10287000"/>
          </a:xfrm>
          <a:prstGeom prst="rect">
            <a:avLst/>
          </a:prstGeom>
          <a:solidFill>
            <a:srgbClr val="CEE45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952237" y="-4679622"/>
            <a:ext cx="5138622" cy="5190527"/>
          </a:xfrm>
          <a:custGeom>
            <a:avLst/>
            <a:gdLst/>
            <a:ahLst/>
            <a:cxnLst/>
            <a:rect r="r" b="b" t="t" l="l"/>
            <a:pathLst>
              <a:path h="5190527" w="5138622">
                <a:moveTo>
                  <a:pt x="0" y="0"/>
                </a:moveTo>
                <a:lnTo>
                  <a:pt x="5138622" y="0"/>
                </a:lnTo>
                <a:lnTo>
                  <a:pt x="5138622" y="5190527"/>
                </a:lnTo>
                <a:lnTo>
                  <a:pt x="0" y="5190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19183" y="1549298"/>
            <a:ext cx="4943219" cy="8345847"/>
          </a:xfrm>
          <a:custGeom>
            <a:avLst/>
            <a:gdLst/>
            <a:ahLst/>
            <a:cxnLst/>
            <a:rect r="r" b="b" t="t" l="l"/>
            <a:pathLst>
              <a:path h="8345847" w="4943219">
                <a:moveTo>
                  <a:pt x="0" y="0"/>
                </a:moveTo>
                <a:lnTo>
                  <a:pt x="4943219" y="0"/>
                </a:lnTo>
                <a:lnTo>
                  <a:pt x="4943219" y="8345846"/>
                </a:lnTo>
                <a:lnTo>
                  <a:pt x="0" y="8345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465" t="-6225" r="-17659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31479" y="1549298"/>
            <a:ext cx="6205151" cy="8345847"/>
          </a:xfrm>
          <a:custGeom>
            <a:avLst/>
            <a:gdLst/>
            <a:ahLst/>
            <a:cxnLst/>
            <a:rect r="r" b="b" t="t" l="l"/>
            <a:pathLst>
              <a:path h="8345847" w="6205151">
                <a:moveTo>
                  <a:pt x="0" y="0"/>
                </a:moveTo>
                <a:lnTo>
                  <a:pt x="6205151" y="0"/>
                </a:lnTo>
                <a:lnTo>
                  <a:pt x="6205151" y="8345846"/>
                </a:lnTo>
                <a:lnTo>
                  <a:pt x="0" y="83458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85" t="0" r="-9192" b="-18603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507370" y="756687"/>
            <a:ext cx="6735473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000000"/>
                </a:solidFill>
                <a:latin typeface="Anton Italics"/>
                <a:ea typeface="Anton Italics"/>
                <a:cs typeface="Anton Italics"/>
                <a:sym typeface="Anton Italics"/>
              </a:rPr>
              <a:t>5. Financial Performance Report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54748" y="757621"/>
            <a:ext cx="5281639" cy="5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</a:pPr>
            <a:r>
              <a:rPr lang="en-US" sz="3858" i="true" spc="-3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6. Branch Feedback Report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15001"/>
            <a:ext cx="7074568" cy="91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8"/>
              </a:lnSpc>
            </a:pPr>
            <a:r>
              <a:rPr lang="en-US" sz="6311" i="true" spc="-63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POWER BI DASHBOARDS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7762" y="4764998"/>
            <a:ext cx="10972081" cy="421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35"/>
              </a:lnSpc>
            </a:pP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built over 20 interactive dashboards using Power BI, incorporating a fully structured data model with fact and dimension tables.</a:t>
            </a:r>
          </a:p>
          <a:p>
            <a:pPr algn="just">
              <a:lnSpc>
                <a:spcPts val="2835"/>
              </a:lnSpc>
            </a:pPr>
          </a:p>
          <a:p>
            <a:pPr algn="just">
              <a:lnSpc>
                <a:spcPts val="2835"/>
              </a:lnSpc>
            </a:pP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applied several DAX measures to calculate KPIs, automate calculations, and enhance insights.</a:t>
            </a:r>
          </a:p>
          <a:p>
            <a:pPr algn="just">
              <a:lnSpc>
                <a:spcPts val="2835"/>
              </a:lnSpc>
            </a:pPr>
          </a:p>
          <a:p>
            <a:pPr algn="just">
              <a:lnSpc>
                <a:spcPts val="2835"/>
              </a:lnSpc>
            </a:pP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dashboards were designed with a clean and user-friendly layout, using custom visuals, filters, and slicers to improve data exploration.</a:t>
            </a:r>
          </a:p>
          <a:p>
            <a:pPr algn="just">
              <a:lnSpc>
                <a:spcPts val="2835"/>
              </a:lnSpc>
            </a:pPr>
          </a:p>
          <a:p>
            <a:pPr algn="just">
              <a:lnSpc>
                <a:spcPts val="2835"/>
              </a:lnSpc>
            </a:pP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Overall, the Power BI solution provides clear, accurate, and dynamic insights to support decision-making across all branches.</a:t>
            </a:r>
          </a:p>
          <a:p>
            <a:pPr algn="just">
              <a:lnSpc>
                <a:spcPts val="2835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0">
            <a:off x="1028700" y="3013911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271116" y="-1334575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684640" y="4326848"/>
            <a:ext cx="4980604" cy="3619949"/>
            <a:chOff x="0" y="0"/>
            <a:chExt cx="6640806" cy="48265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8685" y="0"/>
              <a:ext cx="5299565" cy="4826598"/>
            </a:xfrm>
            <a:custGeom>
              <a:avLst/>
              <a:gdLst/>
              <a:ahLst/>
              <a:cxnLst/>
              <a:rect r="r" b="b" t="t" l="l"/>
              <a:pathLst>
                <a:path h="4826598" w="5299565">
                  <a:moveTo>
                    <a:pt x="0" y="0"/>
                  </a:moveTo>
                  <a:lnTo>
                    <a:pt x="5299565" y="0"/>
                  </a:lnTo>
                  <a:lnTo>
                    <a:pt x="5299565" y="4826598"/>
                  </a:lnTo>
                  <a:lnTo>
                    <a:pt x="0" y="4826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799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3431225"/>
              <a:ext cx="6640806" cy="1278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7"/>
                </a:lnSpc>
                <a:spcBef>
                  <a:spcPct val="0"/>
                </a:spcBef>
              </a:pPr>
              <a:r>
                <a:rPr lang="en-US" b="true" sz="557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Power BI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7764" y="2541652"/>
            <a:ext cx="12609145" cy="6982314"/>
          </a:xfrm>
          <a:custGeom>
            <a:avLst/>
            <a:gdLst/>
            <a:ahLst/>
            <a:cxnLst/>
            <a:rect r="r" b="b" t="t" l="l"/>
            <a:pathLst>
              <a:path h="6982314" w="12609145">
                <a:moveTo>
                  <a:pt x="0" y="0"/>
                </a:moveTo>
                <a:lnTo>
                  <a:pt x="12609145" y="0"/>
                </a:lnTo>
                <a:lnTo>
                  <a:pt x="12609145" y="6982314"/>
                </a:lnTo>
                <a:lnTo>
                  <a:pt x="0" y="6982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4958745" y="2760876"/>
            <a:ext cx="1588152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499" i="true" spc="-44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Profit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17643" y="4244185"/>
            <a:ext cx="5070357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 performance branch:</a:t>
            </a:r>
          </a:p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Giza: $28.71M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50957" y="5460928"/>
            <a:ext cx="4419278" cy="113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Loss Center:</a:t>
            </a:r>
          </a:p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Tanta: - 0.7 M</a:t>
            </a:r>
          </a:p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Menofia: - 0.1 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50957" y="7081110"/>
            <a:ext cx="4419278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Profit: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29.55 M</a:t>
            </a:r>
          </a:p>
          <a:p>
            <a:pPr algn="ctr">
              <a:lnSpc>
                <a:spcPts val="302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450957" y="7974219"/>
            <a:ext cx="4419278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2024 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was a profitless year</a:t>
            </a:r>
          </a:p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and 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2025 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ended with -8 M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2813" y="2680567"/>
            <a:ext cx="11301259" cy="6300452"/>
          </a:xfrm>
          <a:custGeom>
            <a:avLst/>
            <a:gdLst/>
            <a:ahLst/>
            <a:cxnLst/>
            <a:rect r="r" b="b" t="t" l="l"/>
            <a:pathLst>
              <a:path h="6300452" w="11301259">
                <a:moveTo>
                  <a:pt x="0" y="0"/>
                </a:moveTo>
                <a:lnTo>
                  <a:pt x="11301259" y="0"/>
                </a:lnTo>
                <a:lnTo>
                  <a:pt x="11301259" y="6300452"/>
                </a:lnTo>
                <a:lnTo>
                  <a:pt x="0" y="6300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866521" y="2376719"/>
            <a:ext cx="1588152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499" i="true" spc="-44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Cost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07417" y="3136814"/>
            <a:ext cx="4750105" cy="259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561"/>
              </a:lnSpc>
            </a:pPr>
            <a:r>
              <a:rPr lang="ar-EG" sz="20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 </a:t>
            </a:r>
            <a:r>
              <a:rPr lang="en-US" sz="20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 Cost Driver Branch</a:t>
            </a:r>
            <a:r>
              <a:rPr lang="ar-EG" sz="20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 </a:t>
            </a:r>
          </a:p>
          <a:p>
            <a:pPr algn="ctr" rtl="true">
              <a:lnSpc>
                <a:spcPts val="2561"/>
              </a:lnSpc>
            </a:pPr>
            <a:r>
              <a:rPr lang="en-US" b="true" sz="203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Cairo</a:t>
            </a:r>
            <a:r>
              <a:rPr lang="en-US" sz="20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is the highest cost driver across most categories</a:t>
            </a:r>
            <a:r>
              <a:rPr lang="ar-EG" sz="20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 </a:t>
            </a:r>
          </a:p>
          <a:p>
            <a:pPr algn="ctr">
              <a:lnSpc>
                <a:spcPts val="2561"/>
              </a:lnSpc>
            </a:pPr>
            <a:r>
              <a:rPr lang="en-US" sz="20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leading in:</a:t>
            </a:r>
          </a:p>
          <a:p>
            <a:pPr algn="ctr">
              <a:lnSpc>
                <a:spcPts val="2561"/>
              </a:lnSpc>
            </a:pPr>
            <a:r>
              <a:rPr lang="en-US" sz="203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Trainer Salaries (0.44M)</a:t>
            </a:r>
          </a:p>
          <a:p>
            <a:pPr algn="ctr">
              <a:lnSpc>
                <a:spcPts val="2561"/>
              </a:lnSpc>
            </a:pPr>
            <a:r>
              <a:rPr lang="en-US" sz="203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Supplies Cost (10.4M)</a:t>
            </a:r>
          </a:p>
          <a:p>
            <a:pPr algn="ctr">
              <a:lnSpc>
                <a:spcPts val="2561"/>
              </a:lnSpc>
            </a:pPr>
            <a:r>
              <a:rPr lang="en-US" sz="203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Maintenance Cost (78.59K)</a:t>
            </a:r>
          </a:p>
          <a:p>
            <a:pPr algn="ctr">
              <a:lnSpc>
                <a:spcPts val="256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472830" y="5854996"/>
            <a:ext cx="4419278" cy="1515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Highest Staff Salary Branch</a:t>
            </a: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Alexandria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has the highest staff salary cost: </a:t>
            </a: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374.5k</a:t>
            </a:r>
          </a:p>
          <a:p>
            <a:pPr algn="ctr">
              <a:lnSpc>
                <a:spcPts val="302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450957" y="7494058"/>
            <a:ext cx="4419278" cy="189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Maintenance Costs 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Are Very Low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 to Total Cost Maintenance = 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20K </a:t>
            </a:r>
          </a:p>
          <a:p>
            <a:pPr algn="ctr">
              <a:lnSpc>
                <a:spcPts val="3024"/>
              </a:lnSpc>
            </a:pPr>
          </a:p>
          <a:p>
            <a:pPr algn="ctr">
              <a:lnSpc>
                <a:spcPts val="3024"/>
              </a:lnSpc>
            </a:pP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09509" y="2957848"/>
            <a:ext cx="11301259" cy="6300452"/>
          </a:xfrm>
          <a:custGeom>
            <a:avLst/>
            <a:gdLst/>
            <a:ahLst/>
            <a:cxnLst/>
            <a:rect r="r" b="b" t="t" l="l"/>
            <a:pathLst>
              <a:path h="6300452" w="11301259">
                <a:moveTo>
                  <a:pt x="0" y="0"/>
                </a:moveTo>
                <a:lnTo>
                  <a:pt x="11301259" y="0"/>
                </a:lnTo>
                <a:lnTo>
                  <a:pt x="11301259" y="6300452"/>
                </a:lnTo>
                <a:lnTo>
                  <a:pt x="0" y="6300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7764" y="3225198"/>
            <a:ext cx="9635800" cy="100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6999" i="true" spc="-6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Subscription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613" y="4366340"/>
            <a:ext cx="5070357" cy="227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Cairo &amp; Giza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Are Leading Subscription Hubs</a:t>
            </a:r>
          </a:p>
          <a:p>
            <a:pPr algn="ctr">
              <a:lnSpc>
                <a:spcPts val="3024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Cairo and Giza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together contribute over </a:t>
            </a: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55%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of total subscriptions</a:t>
            </a:r>
          </a:p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(1413 + 1359 = 2772)</a:t>
            </a:r>
          </a:p>
          <a:p>
            <a:pPr algn="ctr">
              <a:lnSpc>
                <a:spcPts val="302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9421" y="6929992"/>
            <a:ext cx="4950740" cy="310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8"/>
              </a:lnSpc>
            </a:pPr>
            <a:r>
              <a:rPr lang="en-US" sz="245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2023</a:t>
            </a:r>
            <a:r>
              <a:rPr lang="en-US" sz="24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Was the Peak Subscription Year</a:t>
            </a:r>
          </a:p>
          <a:p>
            <a:pPr algn="ctr">
              <a:lnSpc>
                <a:spcPts val="3098"/>
              </a:lnSpc>
            </a:pPr>
            <a:r>
              <a:rPr lang="en-US" sz="245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2023</a:t>
            </a:r>
            <a:r>
              <a:rPr lang="en-US" sz="24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achieved the highest subscription volume: </a:t>
            </a:r>
            <a:r>
              <a:rPr lang="en-US" sz="245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1997</a:t>
            </a:r>
            <a:r>
              <a:rPr lang="en-US" sz="24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ctr">
              <a:lnSpc>
                <a:spcPts val="3098"/>
              </a:lnSpc>
            </a:pPr>
            <a:r>
              <a:rPr lang="en-US" sz="24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But then:</a:t>
            </a:r>
          </a:p>
          <a:p>
            <a:pPr algn="ctr" marL="530994" indent="-265497" lvl="1">
              <a:lnSpc>
                <a:spcPts val="3098"/>
              </a:lnSpc>
              <a:buFont typeface="Arial"/>
              <a:buChar char="•"/>
            </a:pPr>
            <a:r>
              <a:rPr lang="en-US" b="true" sz="24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2024</a:t>
            </a:r>
            <a:r>
              <a:rPr lang="en-US" sz="24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dropped to </a:t>
            </a:r>
            <a:r>
              <a:rPr lang="en-US" b="true" sz="24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879</a:t>
            </a:r>
          </a:p>
          <a:p>
            <a:pPr algn="ctr" marL="530994" indent="-265497" lvl="1">
              <a:lnSpc>
                <a:spcPts val="3098"/>
              </a:lnSpc>
              <a:buFont typeface="Arial"/>
              <a:buChar char="•"/>
            </a:pPr>
            <a:r>
              <a:rPr lang="en-US" b="true" sz="24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2025</a:t>
            </a:r>
            <a:r>
              <a:rPr lang="en-US" sz="24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dropped to </a:t>
            </a:r>
            <a:r>
              <a:rPr lang="en-US" b="true" sz="24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166</a:t>
            </a:r>
          </a:p>
          <a:p>
            <a:pPr algn="ctr">
              <a:lnSpc>
                <a:spcPts val="3098"/>
              </a:lnSpc>
            </a:pP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8977" y="3014354"/>
            <a:ext cx="11301259" cy="6243946"/>
          </a:xfrm>
          <a:custGeom>
            <a:avLst/>
            <a:gdLst/>
            <a:ahLst/>
            <a:cxnLst/>
            <a:rect r="r" b="b" t="t" l="l"/>
            <a:pathLst>
              <a:path h="6243946" w="11301259">
                <a:moveTo>
                  <a:pt x="0" y="0"/>
                </a:moveTo>
                <a:lnTo>
                  <a:pt x="11301259" y="0"/>
                </a:lnTo>
                <a:lnTo>
                  <a:pt x="11301259" y="6243946"/>
                </a:lnTo>
                <a:lnTo>
                  <a:pt x="0" y="62439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417764" y="3225198"/>
            <a:ext cx="9635800" cy="100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6999" i="true" spc="-6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STAFF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17764" y="4240090"/>
            <a:ext cx="5070357" cy="189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Workforce is Highly Active (</a:t>
            </a: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94% Active Staff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organization maintains a very strong operational workforce.</a:t>
            </a:r>
          </a:p>
          <a:p>
            <a:pPr algn="ctr">
              <a:lnSpc>
                <a:spcPts val="302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17764" y="6145852"/>
            <a:ext cx="5070357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Workforce is Male-Dominated Males = 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71.5%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Females = 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28.5%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7764" y="7268308"/>
            <a:ext cx="5070357" cy="75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General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Manager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Leads Salary Structure (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31K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7764" y="8305419"/>
            <a:ext cx="5070357" cy="189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Gym Trainers Are the Largest Staff Group</a:t>
            </a:r>
          </a:p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Gym Trainers = </a:t>
            </a: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49 employees</a:t>
            </a:r>
          </a:p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Customer Service = </a:t>
            </a: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  <a:p>
            <a:pPr algn="ctr">
              <a:lnSpc>
                <a:spcPts val="3024"/>
              </a:lnSpc>
            </a:pP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12779" y="3190864"/>
            <a:ext cx="11301259" cy="6258072"/>
          </a:xfrm>
          <a:custGeom>
            <a:avLst/>
            <a:gdLst/>
            <a:ahLst/>
            <a:cxnLst/>
            <a:rect r="r" b="b" t="t" l="l"/>
            <a:pathLst>
              <a:path h="6258072" w="11301259">
                <a:moveTo>
                  <a:pt x="0" y="0"/>
                </a:moveTo>
                <a:lnTo>
                  <a:pt x="11301259" y="0"/>
                </a:lnTo>
                <a:lnTo>
                  <a:pt x="11301259" y="6258072"/>
                </a:lnTo>
                <a:lnTo>
                  <a:pt x="0" y="6258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CEE452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417764" y="2535544"/>
            <a:ext cx="9635800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500" i="true" spc="-44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Membership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726029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2" y="0"/>
                </a:lnTo>
                <a:lnTo>
                  <a:pt x="4913492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25204" y="-2761517"/>
            <a:ext cx="4913493" cy="4963124"/>
          </a:xfrm>
          <a:custGeom>
            <a:avLst/>
            <a:gdLst/>
            <a:ahLst/>
            <a:cxnLst/>
            <a:rect r="r" b="b" t="t" l="l"/>
            <a:pathLst>
              <a:path h="4963124" w="4913493">
                <a:moveTo>
                  <a:pt x="0" y="0"/>
                </a:moveTo>
                <a:lnTo>
                  <a:pt x="4913493" y="0"/>
                </a:lnTo>
                <a:lnTo>
                  <a:pt x="4913493" y="4963124"/>
                </a:lnTo>
                <a:lnTo>
                  <a:pt x="0" y="496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17764" y="407923"/>
            <a:ext cx="17452472" cy="973873"/>
            <a:chOff x="0" y="0"/>
            <a:chExt cx="4596536" cy="2564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96536" cy="256493"/>
            </a:xfrm>
            <a:custGeom>
              <a:avLst/>
              <a:gdLst/>
              <a:ahLst/>
              <a:cxnLst/>
              <a:rect r="r" b="b" t="t" l="l"/>
              <a:pathLst>
                <a:path h="256493" w="4596536">
                  <a:moveTo>
                    <a:pt x="22624" y="0"/>
                  </a:moveTo>
                  <a:lnTo>
                    <a:pt x="4573912" y="0"/>
                  </a:lnTo>
                  <a:cubicBezTo>
                    <a:pt x="4586407" y="0"/>
                    <a:pt x="4596536" y="10129"/>
                    <a:pt x="4596536" y="22624"/>
                  </a:cubicBezTo>
                  <a:lnTo>
                    <a:pt x="4596536" y="233870"/>
                  </a:lnTo>
                  <a:cubicBezTo>
                    <a:pt x="4596536" y="239870"/>
                    <a:pt x="4594152" y="245624"/>
                    <a:pt x="4589909" y="249867"/>
                  </a:cubicBezTo>
                  <a:cubicBezTo>
                    <a:pt x="4585667" y="254110"/>
                    <a:pt x="4579912" y="256493"/>
                    <a:pt x="4573912" y="256493"/>
                  </a:cubicBezTo>
                  <a:lnTo>
                    <a:pt x="22624" y="256493"/>
                  </a:lnTo>
                  <a:cubicBezTo>
                    <a:pt x="10129" y="256493"/>
                    <a:pt x="0" y="246364"/>
                    <a:pt x="0" y="233870"/>
                  </a:cubicBezTo>
                  <a:lnTo>
                    <a:pt x="0" y="22624"/>
                  </a:lnTo>
                  <a:cubicBezTo>
                    <a:pt x="0" y="10129"/>
                    <a:pt x="10129" y="0"/>
                    <a:pt x="22624" y="0"/>
                  </a:cubicBezTo>
                  <a:close/>
                </a:path>
              </a:pathLst>
            </a:custGeom>
            <a:solidFill>
              <a:srgbClr val="CEE4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4596536" cy="33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Dashboards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17764" y="3785544"/>
            <a:ext cx="5070357" cy="113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Gold Package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Is the Top Seller Despite Not Being the Highest Value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7764" y="5367019"/>
            <a:ext cx="5070357" cy="189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Age Group </a:t>
            </a: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26–40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Is the Core Customer Segment</a:t>
            </a:r>
          </a:p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Across all packages, age 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26–40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dominates with counts between 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597–1077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per package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7764" y="7743063"/>
            <a:ext cx="5070357" cy="1515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Demand Peaks in 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April, June–July, and October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These months consistently show higher package signups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3013911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71116" y="-1334575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94702" y="2632363"/>
            <a:ext cx="10778553" cy="6356958"/>
          </a:xfrm>
          <a:custGeom>
            <a:avLst/>
            <a:gdLst/>
            <a:ahLst/>
            <a:cxnLst/>
            <a:rect r="r" b="b" t="t" l="l"/>
            <a:pathLst>
              <a:path h="6356958" w="10778553">
                <a:moveTo>
                  <a:pt x="0" y="0"/>
                </a:moveTo>
                <a:lnTo>
                  <a:pt x="10778553" y="0"/>
                </a:lnTo>
                <a:lnTo>
                  <a:pt x="1077855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00" t="-140" r="-3344" b="-14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415001"/>
            <a:ext cx="7074568" cy="91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8"/>
              </a:lnSpc>
            </a:pPr>
            <a:r>
              <a:rPr lang="en-US" sz="6311" i="true" spc="-63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API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4496" y="4631648"/>
            <a:ext cx="7018308" cy="519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5" indent="-248288" lvl="1">
              <a:lnSpc>
                <a:spcPts val="2967"/>
              </a:lnSpc>
              <a:buFont typeface="Arial"/>
              <a:buChar char="•"/>
            </a:pP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Integrated Facebook Graph API to display</a:t>
            </a:r>
          </a:p>
          <a:p>
            <a:pPr algn="just">
              <a:lnSpc>
                <a:spcPts val="2967"/>
              </a:lnSpc>
            </a:pP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profile image dynamically.</a:t>
            </a:r>
          </a:p>
          <a:p>
            <a:pPr algn="just">
              <a:lnSpc>
                <a:spcPts val="2967"/>
              </a:lnSpc>
            </a:pPr>
          </a:p>
          <a:p>
            <a:pPr algn="just" marL="496575" indent="-248288" lvl="1">
              <a:lnSpc>
                <a:spcPts val="2967"/>
              </a:lnSpc>
              <a:buFont typeface="Arial"/>
              <a:buChar char="•"/>
            </a:pP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Profile image updates automatically</a:t>
            </a:r>
          </a:p>
          <a:p>
            <a:pPr algn="just">
              <a:lnSpc>
                <a:spcPts val="2967"/>
              </a:lnSpc>
            </a:pP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in the Power BI dashboard.</a:t>
            </a:r>
          </a:p>
          <a:p>
            <a:pPr algn="just">
              <a:lnSpc>
                <a:spcPts val="2967"/>
              </a:lnSpc>
            </a:pPr>
          </a:p>
          <a:p>
            <a:pPr algn="just" marL="496575" indent="-248288" lvl="1">
              <a:lnSpc>
                <a:spcPts val="2967"/>
              </a:lnSpc>
              <a:buFont typeface="Arial"/>
              <a:buChar char="•"/>
            </a:pP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Ensures real-time synchronization with</a:t>
            </a:r>
          </a:p>
          <a:p>
            <a:pPr algn="just">
              <a:lnSpc>
                <a:spcPts val="2967"/>
              </a:lnSpc>
            </a:pP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the Facebook account.</a:t>
            </a:r>
          </a:p>
          <a:p>
            <a:pPr algn="just">
              <a:lnSpc>
                <a:spcPts val="2967"/>
              </a:lnSpc>
            </a:pPr>
          </a:p>
          <a:p>
            <a:pPr algn="just">
              <a:lnSpc>
                <a:spcPts val="2967"/>
              </a:lnSpc>
            </a:pPr>
          </a:p>
          <a:p>
            <a:pPr algn="just">
              <a:lnSpc>
                <a:spcPts val="2967"/>
              </a:lnSpc>
            </a:pPr>
          </a:p>
          <a:p>
            <a:pPr algn="just">
              <a:lnSpc>
                <a:spcPts val="2967"/>
              </a:lnSpc>
            </a:pPr>
          </a:p>
          <a:p>
            <a:pPr algn="just">
              <a:lnSpc>
                <a:spcPts val="2967"/>
              </a:lnSpc>
            </a:pPr>
          </a:p>
          <a:p>
            <a:pPr algn="just">
              <a:lnSpc>
                <a:spcPts val="2967"/>
              </a:lnSpc>
            </a:pP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15001"/>
            <a:ext cx="7074568" cy="91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8"/>
              </a:lnSpc>
            </a:pPr>
            <a:r>
              <a:rPr lang="en-US" sz="6311" i="true" spc="-63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WEBSITE USING FLASK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7762" y="4764998"/>
            <a:ext cx="10972081" cy="426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35"/>
              </a:lnSpc>
            </a:pP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have developed a web application for managing a fitness center, including </a:t>
            </a:r>
            <a:r>
              <a:rPr lang="en-US" b="true" sz="2100" spc="2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trainee registration</a:t>
            </a: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2100" spc="2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attendance tracking</a:t>
            </a: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lang="en-US" b="true" sz="2100" spc="2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payment management.</a:t>
            </a:r>
          </a:p>
          <a:p>
            <a:pPr algn="just">
              <a:lnSpc>
                <a:spcPts val="2835"/>
              </a:lnSpc>
            </a:pPr>
          </a:p>
          <a:p>
            <a:pPr algn="just">
              <a:lnSpc>
                <a:spcPts val="2835"/>
              </a:lnSpc>
            </a:pP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Used </a:t>
            </a:r>
            <a:r>
              <a:rPr lang="en-US" b="true" sz="2100" spc="2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Flask </a:t>
            </a: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manage the backend, and used </a:t>
            </a:r>
            <a:r>
              <a:rPr lang="en-US" b="true" sz="2100" spc="2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HTML, CSS, Bootstrap</a:t>
            </a: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for managing the frontend,</a:t>
            </a:r>
          </a:p>
          <a:p>
            <a:pPr algn="just">
              <a:lnSpc>
                <a:spcPts val="2835"/>
              </a:lnSpc>
            </a:pPr>
          </a:p>
          <a:p>
            <a:pPr algn="just">
              <a:lnSpc>
                <a:spcPts val="2835"/>
              </a:lnSpc>
            </a:pPr>
          </a:p>
          <a:p>
            <a:pPr algn="just">
              <a:lnSpc>
                <a:spcPts val="2835"/>
              </a:lnSpc>
            </a:pPr>
            <a:r>
              <a:rPr lang="en-US" sz="2100" spc="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application relies on our database stored on SQL Server.It consists of three pages:</a:t>
            </a:r>
          </a:p>
          <a:p>
            <a:pPr algn="just">
              <a:lnSpc>
                <a:spcPts val="2835"/>
              </a:lnSpc>
            </a:pPr>
          </a:p>
          <a:p>
            <a:pPr algn="just" marL="453396" indent="-226698" lvl="1">
              <a:lnSpc>
                <a:spcPts val="2961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 </a:t>
            </a: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page with navigation buttons</a:t>
            </a:r>
          </a:p>
          <a:p>
            <a:pPr algn="just" marL="453396" indent="-226698" lvl="1">
              <a:lnSpc>
                <a:spcPts val="2961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Trainee</a:t>
            </a: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registration page</a:t>
            </a:r>
          </a:p>
          <a:p>
            <a:pPr algn="just" marL="453396" indent="-226698" lvl="1">
              <a:lnSpc>
                <a:spcPts val="2961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Attendance</a:t>
            </a: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registeration page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1028700" y="3013911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271116" y="-1334575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4" y="0"/>
                </a:lnTo>
                <a:lnTo>
                  <a:pt x="3456324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63463" y="4463741"/>
            <a:ext cx="3681959" cy="3681959"/>
          </a:xfrm>
          <a:custGeom>
            <a:avLst/>
            <a:gdLst/>
            <a:ahLst/>
            <a:cxnLst/>
            <a:rect r="r" b="b" t="t" l="l"/>
            <a:pathLst>
              <a:path h="3681959" w="3681959">
                <a:moveTo>
                  <a:pt x="0" y="0"/>
                </a:moveTo>
                <a:lnTo>
                  <a:pt x="3681959" y="0"/>
                </a:lnTo>
                <a:lnTo>
                  <a:pt x="3681959" y="3681959"/>
                </a:lnTo>
                <a:lnTo>
                  <a:pt x="0" y="3681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-415089" y="8276392"/>
            <a:ext cx="18703089" cy="2010608"/>
          </a:xfrm>
          <a:prstGeom prst="rect">
            <a:avLst/>
          </a:prstGeom>
          <a:solidFill>
            <a:srgbClr val="CEE452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1818004" y="8470646"/>
            <a:ext cx="5020687" cy="991586"/>
          </a:xfrm>
          <a:custGeom>
            <a:avLst/>
            <a:gdLst/>
            <a:ahLst/>
            <a:cxnLst/>
            <a:rect r="r" b="b" t="t" l="l"/>
            <a:pathLst>
              <a:path h="991586" w="5020687">
                <a:moveTo>
                  <a:pt x="0" y="0"/>
                </a:moveTo>
                <a:lnTo>
                  <a:pt x="5020687" y="0"/>
                </a:lnTo>
                <a:lnTo>
                  <a:pt x="5020687" y="991586"/>
                </a:lnTo>
                <a:lnTo>
                  <a:pt x="0" y="991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8804854" y="1511399"/>
            <a:ext cx="9285244" cy="7455040"/>
            <a:chOff x="0" y="0"/>
            <a:chExt cx="7467600" cy="5995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70820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3"/>
              <a:stretch>
                <a:fillRect l="-1424" t="0" r="-1519" b="-147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7970921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42161" y="5596890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31677" y="-2448248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1455895"/>
            <a:ext cx="6679113" cy="85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sz="5958" i="true" spc="-59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HOME 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9505" y="2640382"/>
            <a:ext cx="7018308" cy="482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Serves as the </a:t>
            </a:r>
            <a:r>
              <a:rPr lang="en-US" sz="2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central navigation point</a:t>
            </a: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2967"/>
              </a:lnSpc>
            </a:pPr>
          </a:p>
          <a:p>
            <a:pPr algn="just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Designed a visually appealing interface with the logo prominently displayed.</a:t>
            </a:r>
          </a:p>
          <a:p>
            <a:pPr algn="just">
              <a:lnSpc>
                <a:spcPts val="2967"/>
              </a:lnSpc>
            </a:pPr>
          </a:p>
          <a:p>
            <a:pPr algn="just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Added two main buttons:</a:t>
            </a:r>
          </a:p>
          <a:p>
            <a:pPr algn="just">
              <a:lnSpc>
                <a:spcPts val="2967"/>
              </a:lnSpc>
            </a:pPr>
            <a:r>
              <a:rPr lang="en-US" b="true" sz="2300" i="true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New Trainee: </a:t>
            </a: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Opens trainee registration form.</a:t>
            </a:r>
          </a:p>
          <a:p>
            <a:pPr algn="just">
              <a:lnSpc>
                <a:spcPts val="2967"/>
              </a:lnSpc>
            </a:pPr>
            <a:r>
              <a:rPr lang="en-US" b="true" sz="2300" i="true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Attendance:</a:t>
            </a: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Opens attendance registration page.</a:t>
            </a:r>
          </a:p>
          <a:p>
            <a:pPr algn="just">
              <a:lnSpc>
                <a:spcPts val="2967"/>
              </a:lnSpc>
            </a:pPr>
          </a:p>
          <a:p>
            <a:pPr algn="just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Buttons include icons for better user experience.</a:t>
            </a:r>
          </a:p>
          <a:p>
            <a:pPr algn="just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Layout is responsive, works on different screen sizes.</a:t>
            </a:r>
          </a:p>
          <a:p>
            <a:pPr algn="just">
              <a:lnSpc>
                <a:spcPts val="2967"/>
              </a:lnSpc>
            </a:pP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-415089" y="8276392"/>
            <a:ext cx="18703089" cy="2010608"/>
          </a:xfrm>
          <a:prstGeom prst="rect">
            <a:avLst/>
          </a:prstGeom>
          <a:solidFill>
            <a:srgbClr val="CEE452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1818004" y="8470646"/>
            <a:ext cx="5020687" cy="991586"/>
          </a:xfrm>
          <a:custGeom>
            <a:avLst/>
            <a:gdLst/>
            <a:ahLst/>
            <a:cxnLst/>
            <a:rect r="r" b="b" t="t" l="l"/>
            <a:pathLst>
              <a:path h="991586" w="5020687">
                <a:moveTo>
                  <a:pt x="0" y="0"/>
                </a:moveTo>
                <a:lnTo>
                  <a:pt x="5020687" y="0"/>
                </a:lnTo>
                <a:lnTo>
                  <a:pt x="5020687" y="991586"/>
                </a:lnTo>
                <a:lnTo>
                  <a:pt x="0" y="991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8804854" y="1511399"/>
            <a:ext cx="9285244" cy="7455040"/>
            <a:chOff x="0" y="0"/>
            <a:chExt cx="7467600" cy="5995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70820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3"/>
              <a:stretch>
                <a:fillRect l="-15493" t="0" r="-19233" b="-14219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7970921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42161" y="5596890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31677" y="-2448248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9505" y="1457546"/>
            <a:ext cx="8115300" cy="69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1"/>
              </a:lnSpc>
            </a:pPr>
            <a:r>
              <a:rPr lang="en-US" sz="4858" i="true" spc="-4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TRAINEE REGISTERATION 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9505" y="2640382"/>
            <a:ext cx="7018308" cy="482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67"/>
              </a:lnSpc>
            </a:pP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Registers a new trainee with 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 n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ecess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ry 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nform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ation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2967"/>
              </a:lnSpc>
            </a:pPr>
          </a:p>
          <a:p>
            <a:pPr algn="just">
              <a:lnSpc>
                <a:spcPts val="2967"/>
              </a:lnSpc>
            </a:pPr>
            <a:r>
              <a:rPr lang="en-US" b="true" sz="2300" spc="-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Trainee info: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ID, name, gender, birth date, phone, email, branch.</a:t>
            </a:r>
          </a:p>
          <a:p>
            <a:pPr algn="just">
              <a:lnSpc>
                <a:spcPts val="2967"/>
              </a:lnSpc>
            </a:pPr>
            <a:r>
              <a:rPr lang="en-US" b="true" sz="2300" spc="-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Automatic Trainee ID: 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Fetches the latest ID + 1 from the database.</a:t>
            </a:r>
          </a:p>
          <a:p>
            <a:pPr algn="just">
              <a:lnSpc>
                <a:spcPts val="2967"/>
              </a:lnSpc>
            </a:pPr>
            <a:r>
              <a:rPr lang="en-US" b="true" sz="2300" spc="-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Membership subscription: 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Membership ID, status, start and expiry date.</a:t>
            </a:r>
          </a:p>
          <a:p>
            <a:pPr algn="just">
              <a:lnSpc>
                <a:spcPts val="2967"/>
              </a:lnSpc>
            </a:pPr>
            <a:r>
              <a:rPr lang="en-US" b="true" sz="2300" spc="-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Payment details: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Payment date, invoice number (formatted as INV 6000), payment method, total amount.</a:t>
            </a:r>
          </a:p>
          <a:p>
            <a:pPr algn="just">
              <a:lnSpc>
                <a:spcPts val="2967"/>
              </a:lnSpc>
            </a:pP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158937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-415089" y="8276392"/>
            <a:ext cx="18703089" cy="2010608"/>
          </a:xfrm>
          <a:prstGeom prst="rect">
            <a:avLst/>
          </a:prstGeom>
          <a:solidFill>
            <a:srgbClr val="CEE452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1818004" y="8470646"/>
            <a:ext cx="5020687" cy="991586"/>
          </a:xfrm>
          <a:custGeom>
            <a:avLst/>
            <a:gdLst/>
            <a:ahLst/>
            <a:cxnLst/>
            <a:rect r="r" b="b" t="t" l="l"/>
            <a:pathLst>
              <a:path h="991586" w="5020687">
                <a:moveTo>
                  <a:pt x="0" y="0"/>
                </a:moveTo>
                <a:lnTo>
                  <a:pt x="5020687" y="0"/>
                </a:lnTo>
                <a:lnTo>
                  <a:pt x="5020687" y="991586"/>
                </a:lnTo>
                <a:lnTo>
                  <a:pt x="0" y="991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8804854" y="1511399"/>
            <a:ext cx="9285244" cy="7455040"/>
            <a:chOff x="0" y="0"/>
            <a:chExt cx="7467600" cy="5995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70820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3"/>
              <a:stretch>
                <a:fillRect l="-34287" t="-338" r="-37542" b="-3119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7970921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42161" y="5596890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31677" y="-2448248"/>
            <a:ext cx="3456323" cy="3491236"/>
          </a:xfrm>
          <a:custGeom>
            <a:avLst/>
            <a:gdLst/>
            <a:ahLst/>
            <a:cxnLst/>
            <a:rect r="r" b="b" t="t" l="l"/>
            <a:pathLst>
              <a:path h="3491236" w="3456323">
                <a:moveTo>
                  <a:pt x="0" y="0"/>
                </a:moveTo>
                <a:lnTo>
                  <a:pt x="3456323" y="0"/>
                </a:lnTo>
                <a:lnTo>
                  <a:pt x="3456323" y="3491236"/>
                </a:lnTo>
                <a:lnTo>
                  <a:pt x="0" y="3491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9505" y="1549499"/>
            <a:ext cx="8115300" cy="69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1"/>
              </a:lnSpc>
            </a:pPr>
            <a:r>
              <a:rPr lang="en-US" sz="4858" i="true" spc="-48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ATTENDANCE REGISTRATION 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9505" y="3022293"/>
            <a:ext cx="7018308" cy="296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67"/>
              </a:lnSpc>
            </a:pP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Record daily attendance for trainees.</a:t>
            </a:r>
          </a:p>
          <a:p>
            <a:pPr algn="just">
              <a:lnSpc>
                <a:spcPts val="2967"/>
              </a:lnSpc>
            </a:pPr>
          </a:p>
          <a:p>
            <a:pPr algn="just">
              <a:lnSpc>
                <a:spcPts val="2967"/>
              </a:lnSpc>
            </a:pP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Select Trainee by </a:t>
            </a:r>
            <a:r>
              <a:rPr lang="en-US" b="true" sz="2300" spc="-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name &amp; ID 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from a drop down list.</a:t>
            </a:r>
          </a:p>
          <a:p>
            <a:pPr algn="just">
              <a:lnSpc>
                <a:spcPts val="2967"/>
              </a:lnSpc>
            </a:pPr>
          </a:p>
          <a:p>
            <a:pPr algn="just">
              <a:lnSpc>
                <a:spcPts val="2967"/>
              </a:lnSpc>
            </a:pP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Select </a:t>
            </a:r>
            <a:r>
              <a:rPr lang="en-US" b="true" sz="2300" spc="-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Branch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by location.</a:t>
            </a:r>
          </a:p>
          <a:p>
            <a:pPr algn="just">
              <a:lnSpc>
                <a:spcPts val="2967"/>
              </a:lnSpc>
            </a:pPr>
          </a:p>
          <a:p>
            <a:pPr algn="just">
              <a:lnSpc>
                <a:spcPts val="2967"/>
              </a:lnSpc>
            </a:pP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Automatically shows </a:t>
            </a:r>
            <a:r>
              <a:rPr lang="en-US" b="true" sz="2300" spc="-5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current date &amp; time</a:t>
            </a:r>
            <a:r>
              <a:rPr lang="en-US" sz="2300" spc="-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2967"/>
              </a:lnSpc>
            </a:pP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30954" y="1028700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970921"/>
            <a:ext cx="428346" cy="1287379"/>
          </a:xfrm>
          <a:custGeom>
            <a:avLst/>
            <a:gdLst/>
            <a:ahLst/>
            <a:cxnLst/>
            <a:rect r="r" b="b" t="t" l="l"/>
            <a:pathLst>
              <a:path h="1287379" w="428346">
                <a:moveTo>
                  <a:pt x="0" y="0"/>
                </a:moveTo>
                <a:lnTo>
                  <a:pt x="428346" y="0"/>
                </a:lnTo>
                <a:lnTo>
                  <a:pt x="428346" y="1287379"/>
                </a:lnTo>
                <a:lnTo>
                  <a:pt x="0" y="1287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31372" y="3706170"/>
            <a:ext cx="13825256" cy="2130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8"/>
              </a:lnSpc>
            </a:pPr>
            <a:r>
              <a:rPr lang="en-US" sz="12491" i="true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671520" y="7004814"/>
            <a:ext cx="4036466" cy="4077238"/>
          </a:xfrm>
          <a:custGeom>
            <a:avLst/>
            <a:gdLst/>
            <a:ahLst/>
            <a:cxnLst/>
            <a:rect r="r" b="b" t="t" l="l"/>
            <a:pathLst>
              <a:path h="4077238" w="4036466">
                <a:moveTo>
                  <a:pt x="0" y="0"/>
                </a:moveTo>
                <a:lnTo>
                  <a:pt x="4036466" y="0"/>
                </a:lnTo>
                <a:lnTo>
                  <a:pt x="4036466" y="4077239"/>
                </a:lnTo>
                <a:lnTo>
                  <a:pt x="0" y="40772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73079" y="-906606"/>
            <a:ext cx="3831905" cy="3870611"/>
          </a:xfrm>
          <a:custGeom>
            <a:avLst/>
            <a:gdLst/>
            <a:ahLst/>
            <a:cxnLst/>
            <a:rect r="r" b="b" t="t" l="l"/>
            <a:pathLst>
              <a:path h="3870611" w="3831905">
                <a:moveTo>
                  <a:pt x="0" y="0"/>
                </a:moveTo>
                <a:lnTo>
                  <a:pt x="3831905" y="0"/>
                </a:lnTo>
                <a:lnTo>
                  <a:pt x="3831905" y="3870612"/>
                </a:lnTo>
                <a:lnTo>
                  <a:pt x="0" y="38706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DAG6kWCzsPo</dc:identifier>
  <dcterms:modified xsi:type="dcterms:W3CDTF">2011-08-01T06:04:30Z</dcterms:modified>
  <cp:revision>1</cp:revision>
  <dc:title>ITI Graduation Project</dc:title>
</cp:coreProperties>
</file>